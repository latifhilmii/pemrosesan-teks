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ress Start 2P" charset="1" panose="00000500000000000000"/>
      <p:regular r:id="rId23"/>
    </p:embeddedFont>
    <p:embeddedFont>
      <p:font typeface="Arcade Gamer"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1.png" Type="http://schemas.openxmlformats.org/officeDocument/2006/relationships/image"/><Relationship Id="rId13" Target="../media/image22.png" Type="http://schemas.openxmlformats.org/officeDocument/2006/relationships/image"/><Relationship Id="rId14" Target="../media/image23.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4.png" Type="http://schemas.openxmlformats.org/officeDocument/2006/relationships/image"/><Relationship Id="rId13" Target="../media/image25.png" Type="http://schemas.openxmlformats.org/officeDocument/2006/relationships/image"/><Relationship Id="rId14" Target="../media/image2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30.png" Type="http://schemas.openxmlformats.org/officeDocument/2006/relationships/image"/><Relationship Id="rId13" Target="../media/image31.png" Type="http://schemas.openxmlformats.org/officeDocument/2006/relationships/image"/><Relationship Id="rId14" Target="../media/image32.png" Type="http://schemas.openxmlformats.org/officeDocument/2006/relationships/image"/><Relationship Id="rId15" Target="../media/image1.png" Type="http://schemas.openxmlformats.org/officeDocument/2006/relationships/image"/><Relationship Id="rId16" Target="../media/image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33.png" Type="http://schemas.openxmlformats.org/officeDocument/2006/relationships/image"/><Relationship Id="rId13" Target="../media/image34.png" Type="http://schemas.openxmlformats.org/officeDocument/2006/relationships/image"/><Relationship Id="rId14" Target="../media/image35.png" Type="http://schemas.openxmlformats.org/officeDocument/2006/relationships/image"/><Relationship Id="rId15" Target="../media/image1.png" Type="http://schemas.openxmlformats.org/officeDocument/2006/relationships/image"/><Relationship Id="rId16" Target="../media/image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14" Target="../media/image36.png" Type="http://schemas.openxmlformats.org/officeDocument/2006/relationships/image"/><Relationship Id="rId15" Target="../media/image37.png" Type="http://schemas.openxmlformats.org/officeDocument/2006/relationships/image"/><Relationship Id="rId16" Target="../media/image3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14" Target="../media/image39.png" Type="http://schemas.openxmlformats.org/officeDocument/2006/relationships/image"/><Relationship Id="rId15" Target="../media/image40.png" Type="http://schemas.openxmlformats.org/officeDocument/2006/relationships/image"/><Relationship Id="rId16" Target="../media/image4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42.png" Type="http://schemas.openxmlformats.org/officeDocument/2006/relationships/image"/><Relationship Id="rId13" Target="../media/image43.png" Type="http://schemas.openxmlformats.org/officeDocument/2006/relationships/image"/><Relationship Id="rId14" Target="../media/image44.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14" Target="../media/image45.png" Type="http://schemas.openxmlformats.org/officeDocument/2006/relationships/image"/><Relationship Id="rId15" Target="../media/image46.png" Type="http://schemas.openxmlformats.org/officeDocument/2006/relationships/image"/><Relationship Id="rId16" Target="../media/image4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48.png" Type="http://schemas.openxmlformats.org/officeDocument/2006/relationships/image"/><Relationship Id="rId15" Target="../media/image49.svg" Type="http://schemas.openxmlformats.org/officeDocument/2006/relationships/image"/><Relationship Id="rId16" Target="../media/image50.png" Type="http://schemas.openxmlformats.org/officeDocument/2006/relationships/image"/><Relationship Id="rId17" Target="../media/image5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723137" y="6164811"/>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23137" y="2208605"/>
            <a:ext cx="2980461" cy="839948"/>
          </a:xfrm>
          <a:custGeom>
            <a:avLst/>
            <a:gdLst/>
            <a:ahLst/>
            <a:cxnLst/>
            <a:rect r="r" b="b" t="t" l="l"/>
            <a:pathLst>
              <a:path h="839948" w="2980461">
                <a:moveTo>
                  <a:pt x="0" y="0"/>
                </a:moveTo>
                <a:lnTo>
                  <a:pt x="2980461" y="0"/>
                </a:lnTo>
                <a:lnTo>
                  <a:pt x="2980461" y="839949"/>
                </a:lnTo>
                <a:lnTo>
                  <a:pt x="0" y="839949"/>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6">
              <a:extLst>
                <a:ext uri="{96DAC541-7B7A-43D3-8B79-37D633B846F1}">
                  <asvg:svgBlip xmlns:asvg="http://schemas.microsoft.com/office/drawing/2016/SVG/main" r:embed="rId7"/>
                </a:ext>
              </a:extLst>
            </a:blip>
            <a:stretch>
              <a:fillRect l="-1664" t="0" r="0" b="-114354"/>
            </a:stretch>
          </a:blipFill>
        </p:spPr>
      </p:sp>
      <p:sp>
        <p:nvSpPr>
          <p:cNvPr name="Freeform 5" id="5"/>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6">
              <a:extLst>
                <a:ext uri="{96DAC541-7B7A-43D3-8B79-37D633B846F1}">
                  <asvg:svgBlip xmlns:asvg="http://schemas.microsoft.com/office/drawing/2016/SVG/main" r:embed="rId7"/>
                </a:ext>
              </a:extLst>
            </a:blip>
            <a:stretch>
              <a:fillRect l="-326" t="-20627" r="0" b="-137943"/>
            </a:stretch>
          </a:blipFill>
        </p:spPr>
      </p:sp>
      <p:sp>
        <p:nvSpPr>
          <p:cNvPr name="Freeform 6" id="6"/>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6">
              <a:extLst>
                <a:ext uri="{96DAC541-7B7A-43D3-8B79-37D633B846F1}">
                  <asvg:svgBlip xmlns:asvg="http://schemas.microsoft.com/office/drawing/2016/SVG/main" r:embed="rId7"/>
                </a:ext>
              </a:extLst>
            </a:blip>
            <a:stretch>
              <a:fillRect l="-1664" t="0" r="0" b="-114354"/>
            </a:stretch>
          </a:blipFill>
        </p:spPr>
      </p:sp>
      <p:sp>
        <p:nvSpPr>
          <p:cNvPr name="TextBox 7" id="7"/>
          <p:cNvSpPr txBox="true"/>
          <p:nvPr/>
        </p:nvSpPr>
        <p:spPr>
          <a:xfrm rot="0">
            <a:off x="5021920" y="2380055"/>
            <a:ext cx="8244159" cy="2856880"/>
          </a:xfrm>
          <a:prstGeom prst="rect">
            <a:avLst/>
          </a:prstGeom>
        </p:spPr>
        <p:txBody>
          <a:bodyPr anchor="t" rtlCol="false" tIns="0" lIns="0" bIns="0" rIns="0">
            <a:spAutoFit/>
          </a:bodyPr>
          <a:lstStyle/>
          <a:p>
            <a:pPr algn="ctr">
              <a:lnSpc>
                <a:spcPts val="11031"/>
              </a:lnSpc>
            </a:pPr>
            <a:r>
              <a:rPr lang="en-US" sz="10709">
                <a:solidFill>
                  <a:srgbClr val="535454"/>
                </a:solidFill>
                <a:latin typeface="Press Start 2P"/>
                <a:ea typeface="Press Start 2P"/>
                <a:cs typeface="Press Start 2P"/>
                <a:sym typeface="Press Start 2P"/>
              </a:rPr>
              <a:t>GAME ACTION</a:t>
            </a:r>
          </a:p>
        </p:txBody>
      </p:sp>
      <p:sp>
        <p:nvSpPr>
          <p:cNvPr name="Freeform 8" id="8"/>
          <p:cNvSpPr/>
          <p:nvPr/>
        </p:nvSpPr>
        <p:spPr>
          <a:xfrm flipH="false" flipV="false" rot="0">
            <a:off x="14135560" y="5973721"/>
            <a:ext cx="1109468" cy="2524877"/>
          </a:xfrm>
          <a:custGeom>
            <a:avLst/>
            <a:gdLst/>
            <a:ahLst/>
            <a:cxnLst/>
            <a:rect r="r" b="b" t="t" l="l"/>
            <a:pathLst>
              <a:path h="2524877" w="1109468">
                <a:moveTo>
                  <a:pt x="0" y="0"/>
                </a:moveTo>
                <a:lnTo>
                  <a:pt x="1109468" y="0"/>
                </a:lnTo>
                <a:lnTo>
                  <a:pt x="1109468" y="2524877"/>
                </a:lnTo>
                <a:lnTo>
                  <a:pt x="0" y="2524877"/>
                </a:lnTo>
                <a:lnTo>
                  <a:pt x="0" y="0"/>
                </a:lnTo>
                <a:close/>
              </a:path>
            </a:pathLst>
          </a:custGeom>
          <a:blipFill>
            <a:blip r:embed="rId8">
              <a:extLst>
                <a:ext uri="{96DAC541-7B7A-43D3-8B79-37D633B846F1}">
                  <asvg:svgBlip xmlns:asvg="http://schemas.microsoft.com/office/drawing/2016/SVG/main" r:embed="rId9"/>
                </a:ext>
              </a:extLst>
            </a:blip>
            <a:stretch>
              <a:fillRect l="0" t="0" r="0" b="-3281"/>
            </a:stretch>
          </a:blipFill>
        </p:spPr>
      </p:sp>
      <p:sp>
        <p:nvSpPr>
          <p:cNvPr name="Freeform 9" id="9"/>
          <p:cNvSpPr/>
          <p:nvPr/>
        </p:nvSpPr>
        <p:spPr>
          <a:xfrm flipH="false" flipV="false" rot="0">
            <a:off x="13754797" y="3048554"/>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7199197" y="7996849"/>
            <a:ext cx="1178951" cy="282023"/>
          </a:xfrm>
          <a:custGeom>
            <a:avLst/>
            <a:gdLst/>
            <a:ahLst/>
            <a:cxnLst/>
            <a:rect r="r" b="b" t="t" l="l"/>
            <a:pathLst>
              <a:path h="282023" w="1178951">
                <a:moveTo>
                  <a:pt x="0" y="0"/>
                </a:moveTo>
                <a:lnTo>
                  <a:pt x="1178951" y="0"/>
                </a:lnTo>
                <a:lnTo>
                  <a:pt x="1178951" y="282023"/>
                </a:lnTo>
                <a:lnTo>
                  <a:pt x="0" y="282023"/>
                </a:lnTo>
                <a:lnTo>
                  <a:pt x="0" y="0"/>
                </a:lnTo>
                <a:close/>
              </a:path>
            </a:pathLst>
          </a:custGeom>
          <a:blipFill>
            <a:blip r:embed="rId10">
              <a:extLst>
                <a:ext uri="{96DAC541-7B7A-43D3-8B79-37D633B846F1}">
                  <asvg:svgBlip xmlns:asvg="http://schemas.microsoft.com/office/drawing/2016/SVG/main" r:embed="rId11"/>
                </a:ext>
              </a:extLst>
            </a:blip>
            <a:stretch>
              <a:fillRect l="0" t="0" r="0" b="-318033"/>
            </a:stretch>
          </a:blipFill>
        </p:spPr>
      </p:sp>
      <p:sp>
        <p:nvSpPr>
          <p:cNvPr name="Freeform 11" id="11"/>
          <p:cNvSpPr/>
          <p:nvPr/>
        </p:nvSpPr>
        <p:spPr>
          <a:xfrm flipH="false" flipV="false" rot="0">
            <a:off x="0"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TextBox 12" id="12"/>
          <p:cNvSpPr txBox="true"/>
          <p:nvPr/>
        </p:nvSpPr>
        <p:spPr>
          <a:xfrm rot="0">
            <a:off x="6731373" y="5179786"/>
            <a:ext cx="4825254" cy="499818"/>
          </a:xfrm>
          <a:prstGeom prst="rect">
            <a:avLst/>
          </a:prstGeom>
        </p:spPr>
        <p:txBody>
          <a:bodyPr anchor="t" rtlCol="false" tIns="0" lIns="0" bIns="0" rIns="0">
            <a:spAutoFit/>
          </a:bodyPr>
          <a:lstStyle/>
          <a:p>
            <a:pPr algn="ctr">
              <a:lnSpc>
                <a:spcPts val="3710"/>
              </a:lnSpc>
            </a:pPr>
            <a:r>
              <a:rPr lang="en-US" sz="2921" spc="1294">
                <a:solidFill>
                  <a:srgbClr val="535454"/>
                </a:solidFill>
                <a:latin typeface="Arcade Gamer"/>
                <a:ea typeface="Arcade Gamer"/>
                <a:cs typeface="Arcade Gamer"/>
                <a:sym typeface="Arcade Gamer"/>
              </a:rPr>
              <a:t>COMPARISON</a:t>
            </a:r>
          </a:p>
        </p:txBody>
      </p:sp>
      <p:sp>
        <p:nvSpPr>
          <p:cNvPr name="Freeform 13" id="13"/>
          <p:cNvSpPr/>
          <p:nvPr/>
        </p:nvSpPr>
        <p:spPr>
          <a:xfrm flipH="false" flipV="false" rot="0">
            <a:off x="8219856"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4" id="14"/>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5" id="15"/>
          <p:cNvSpPr/>
          <p:nvPr/>
        </p:nvSpPr>
        <p:spPr>
          <a:xfrm flipH="false" flipV="false" rot="0">
            <a:off x="13838493" y="7513336"/>
            <a:ext cx="457922" cy="1042117"/>
          </a:xfrm>
          <a:custGeom>
            <a:avLst/>
            <a:gdLst/>
            <a:ahLst/>
            <a:cxnLst/>
            <a:rect r="r" b="b" t="t" l="l"/>
            <a:pathLst>
              <a:path h="1042117" w="457922">
                <a:moveTo>
                  <a:pt x="0" y="0"/>
                </a:moveTo>
                <a:lnTo>
                  <a:pt x="457922" y="0"/>
                </a:lnTo>
                <a:lnTo>
                  <a:pt x="457922" y="1042117"/>
                </a:lnTo>
                <a:lnTo>
                  <a:pt x="0" y="1042117"/>
                </a:lnTo>
                <a:lnTo>
                  <a:pt x="0" y="0"/>
                </a:lnTo>
                <a:close/>
              </a:path>
            </a:pathLst>
          </a:custGeom>
          <a:blipFill>
            <a:blip r:embed="rId8">
              <a:extLst>
                <a:ext uri="{96DAC541-7B7A-43D3-8B79-37D633B846F1}">
                  <asvg:svgBlip xmlns:asvg="http://schemas.microsoft.com/office/drawing/2016/SVG/main" r:embed="rId9"/>
                </a:ext>
              </a:extLst>
            </a:blip>
            <a:stretch>
              <a:fillRect l="0" t="0" r="0" b="-3281"/>
            </a:stretch>
          </a:blipFill>
        </p:spPr>
      </p:sp>
      <p:sp>
        <p:nvSpPr>
          <p:cNvPr name="TextBox 16" id="16"/>
          <p:cNvSpPr txBox="true"/>
          <p:nvPr/>
        </p:nvSpPr>
        <p:spPr>
          <a:xfrm rot="0">
            <a:off x="5357625" y="6983183"/>
            <a:ext cx="7572750" cy="429753"/>
          </a:xfrm>
          <a:prstGeom prst="rect">
            <a:avLst/>
          </a:prstGeom>
        </p:spPr>
        <p:txBody>
          <a:bodyPr anchor="t" rtlCol="false" tIns="0" lIns="0" bIns="0" rIns="0">
            <a:spAutoFit/>
          </a:bodyPr>
          <a:lstStyle/>
          <a:p>
            <a:pPr algn="ctr">
              <a:lnSpc>
                <a:spcPts val="3227"/>
              </a:lnSpc>
            </a:pPr>
            <a:r>
              <a:rPr lang="en-US" sz="2321" spc="192">
                <a:solidFill>
                  <a:srgbClr val="535454"/>
                </a:solidFill>
                <a:latin typeface="Arcade Gamer"/>
                <a:ea typeface="Arcade Gamer"/>
                <a:cs typeface="Arcade Gamer"/>
                <a:sym typeface="Arcade Gamer"/>
              </a:rPr>
              <a:t>LATIF HILMI - 5220411299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38100" y="6186202"/>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18236" y="3542360"/>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6">
              <a:extLst>
                <a:ext uri="{96DAC541-7B7A-43D3-8B79-37D633B846F1}">
                  <asvg:svgBlip xmlns:asvg="http://schemas.microsoft.com/office/drawing/2016/SVG/main" r:embed="rId7"/>
                </a:ext>
              </a:extLst>
            </a:blip>
            <a:stretch>
              <a:fillRect l="-1664" t="0" r="0" b="-114354"/>
            </a:stretch>
          </a:blipFill>
        </p:spPr>
      </p:sp>
      <p:sp>
        <p:nvSpPr>
          <p:cNvPr name="Freeform 5" id="5"/>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6">
              <a:extLst>
                <a:ext uri="{96DAC541-7B7A-43D3-8B79-37D633B846F1}">
                  <asvg:svgBlip xmlns:asvg="http://schemas.microsoft.com/office/drawing/2016/SVG/main" r:embed="rId7"/>
                </a:ext>
              </a:extLst>
            </a:blip>
            <a:stretch>
              <a:fillRect l="-326" t="-20627" r="0" b="-137943"/>
            </a:stretch>
          </a:blipFill>
        </p:spPr>
      </p:sp>
      <p:sp>
        <p:nvSpPr>
          <p:cNvPr name="Freeform 6" id="6"/>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6">
              <a:extLst>
                <a:ext uri="{96DAC541-7B7A-43D3-8B79-37D633B846F1}">
                  <asvg:svgBlip xmlns:asvg="http://schemas.microsoft.com/office/drawing/2016/SVG/main" r:embed="rId7"/>
                </a:ext>
              </a:extLst>
            </a:blip>
            <a:stretch>
              <a:fillRect l="-1664" t="0" r="0" b="-114354"/>
            </a:stretch>
          </a:blipFill>
        </p:spPr>
      </p:sp>
      <p:sp>
        <p:nvSpPr>
          <p:cNvPr name="Freeform 7" id="7"/>
          <p:cNvSpPr/>
          <p:nvPr/>
        </p:nvSpPr>
        <p:spPr>
          <a:xfrm flipH="false" flipV="false" rot="0">
            <a:off x="16618841" y="6090657"/>
            <a:ext cx="1109468" cy="2524877"/>
          </a:xfrm>
          <a:custGeom>
            <a:avLst/>
            <a:gdLst/>
            <a:ahLst/>
            <a:cxnLst/>
            <a:rect r="r" b="b" t="t" l="l"/>
            <a:pathLst>
              <a:path h="2524877" w="1109468">
                <a:moveTo>
                  <a:pt x="0" y="0"/>
                </a:moveTo>
                <a:lnTo>
                  <a:pt x="1109468" y="0"/>
                </a:lnTo>
                <a:lnTo>
                  <a:pt x="1109468" y="2524877"/>
                </a:lnTo>
                <a:lnTo>
                  <a:pt x="0" y="2524877"/>
                </a:lnTo>
                <a:lnTo>
                  <a:pt x="0" y="0"/>
                </a:lnTo>
                <a:close/>
              </a:path>
            </a:pathLst>
          </a:custGeom>
          <a:blipFill>
            <a:blip r:embed="rId8">
              <a:extLst>
                <a:ext uri="{96DAC541-7B7A-43D3-8B79-37D633B846F1}">
                  <asvg:svgBlip xmlns:asvg="http://schemas.microsoft.com/office/drawing/2016/SVG/main" r:embed="rId9"/>
                </a:ext>
              </a:extLst>
            </a:blip>
            <a:stretch>
              <a:fillRect l="0" t="0" r="0" b="-3281"/>
            </a:stretch>
          </a:blipFill>
        </p:spPr>
      </p:sp>
      <p:sp>
        <p:nvSpPr>
          <p:cNvPr name="Freeform 8" id="8"/>
          <p:cNvSpPr/>
          <p:nvPr/>
        </p:nvSpPr>
        <p:spPr>
          <a:xfrm flipH="false" flipV="false" rot="0">
            <a:off x="14332317" y="1920736"/>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7199197" y="7996849"/>
            <a:ext cx="1178951" cy="282023"/>
          </a:xfrm>
          <a:custGeom>
            <a:avLst/>
            <a:gdLst/>
            <a:ahLst/>
            <a:cxnLst/>
            <a:rect r="r" b="b" t="t" l="l"/>
            <a:pathLst>
              <a:path h="282023" w="1178951">
                <a:moveTo>
                  <a:pt x="0" y="0"/>
                </a:moveTo>
                <a:lnTo>
                  <a:pt x="1178951" y="0"/>
                </a:lnTo>
                <a:lnTo>
                  <a:pt x="1178951" y="282023"/>
                </a:lnTo>
                <a:lnTo>
                  <a:pt x="0" y="282023"/>
                </a:lnTo>
                <a:lnTo>
                  <a:pt x="0" y="0"/>
                </a:lnTo>
                <a:close/>
              </a:path>
            </a:pathLst>
          </a:custGeom>
          <a:blipFill>
            <a:blip r:embed="rId10">
              <a:extLst>
                <a:ext uri="{96DAC541-7B7A-43D3-8B79-37D633B846F1}">
                  <asvg:svgBlip xmlns:asvg="http://schemas.microsoft.com/office/drawing/2016/SVG/main" r:embed="rId11"/>
                </a:ext>
              </a:extLst>
            </a:blip>
            <a:stretch>
              <a:fillRect l="0" t="0" r="0" b="-318033"/>
            </a:stretch>
          </a:blipFill>
        </p:spPr>
      </p:sp>
      <p:sp>
        <p:nvSpPr>
          <p:cNvPr name="Freeform 10" id="10"/>
          <p:cNvSpPr/>
          <p:nvPr/>
        </p:nvSpPr>
        <p:spPr>
          <a:xfrm flipH="false" flipV="false" rot="0">
            <a:off x="0"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1" id="11"/>
          <p:cNvSpPr/>
          <p:nvPr/>
        </p:nvSpPr>
        <p:spPr>
          <a:xfrm flipH="false" flipV="false" rot="0">
            <a:off x="8219856" y="8078196"/>
            <a:ext cx="6490116" cy="344202"/>
          </a:xfrm>
          <a:custGeom>
            <a:avLst/>
            <a:gdLst/>
            <a:ahLst/>
            <a:cxnLst/>
            <a:rect r="r" b="b" t="t" l="l"/>
            <a:pathLst>
              <a:path h="344202" w="6490116">
                <a:moveTo>
                  <a:pt x="0" y="0"/>
                </a:moveTo>
                <a:lnTo>
                  <a:pt x="6490115" y="0"/>
                </a:lnTo>
                <a:lnTo>
                  <a:pt x="6490115"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924" t="0" r="-19539" b="0"/>
            </a:stretch>
          </a:blipFill>
        </p:spPr>
      </p:sp>
      <p:sp>
        <p:nvSpPr>
          <p:cNvPr name="Freeform 12" id="12"/>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3" id="13"/>
          <p:cNvSpPr/>
          <p:nvPr/>
        </p:nvSpPr>
        <p:spPr>
          <a:xfrm flipH="false" flipV="false" rot="0">
            <a:off x="9195463" y="5108976"/>
            <a:ext cx="3982863" cy="1817067"/>
          </a:xfrm>
          <a:custGeom>
            <a:avLst/>
            <a:gdLst/>
            <a:ahLst/>
            <a:cxnLst/>
            <a:rect r="r" b="b" t="t" l="l"/>
            <a:pathLst>
              <a:path h="1817067" w="3982863">
                <a:moveTo>
                  <a:pt x="0" y="0"/>
                </a:moveTo>
                <a:lnTo>
                  <a:pt x="3982863" y="0"/>
                </a:lnTo>
                <a:lnTo>
                  <a:pt x="3982863" y="1817067"/>
                </a:lnTo>
                <a:lnTo>
                  <a:pt x="0" y="181706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14555696" y="7968274"/>
            <a:ext cx="1178951" cy="282023"/>
          </a:xfrm>
          <a:custGeom>
            <a:avLst/>
            <a:gdLst/>
            <a:ahLst/>
            <a:cxnLst/>
            <a:rect r="r" b="b" t="t" l="l"/>
            <a:pathLst>
              <a:path h="282023" w="1178951">
                <a:moveTo>
                  <a:pt x="0" y="0"/>
                </a:moveTo>
                <a:lnTo>
                  <a:pt x="1178951" y="0"/>
                </a:lnTo>
                <a:lnTo>
                  <a:pt x="1178951" y="282023"/>
                </a:lnTo>
                <a:lnTo>
                  <a:pt x="0" y="282023"/>
                </a:lnTo>
                <a:lnTo>
                  <a:pt x="0" y="0"/>
                </a:lnTo>
                <a:close/>
              </a:path>
            </a:pathLst>
          </a:custGeom>
          <a:blipFill>
            <a:blip r:embed="rId10">
              <a:extLst>
                <a:ext uri="{96DAC541-7B7A-43D3-8B79-37D633B846F1}">
                  <asvg:svgBlip xmlns:asvg="http://schemas.microsoft.com/office/drawing/2016/SVG/main" r:embed="rId11"/>
                </a:ext>
              </a:extLst>
            </a:blip>
            <a:stretch>
              <a:fillRect l="0" t="0" r="0" b="-318033"/>
            </a:stretch>
          </a:blipFill>
        </p:spPr>
      </p:sp>
      <p:sp>
        <p:nvSpPr>
          <p:cNvPr name="Freeform 15" id="15"/>
          <p:cNvSpPr/>
          <p:nvPr/>
        </p:nvSpPr>
        <p:spPr>
          <a:xfrm flipH="false" flipV="false" rot="0">
            <a:off x="4562080" y="2520946"/>
            <a:ext cx="2785716" cy="5255772"/>
          </a:xfrm>
          <a:custGeom>
            <a:avLst/>
            <a:gdLst/>
            <a:ahLst/>
            <a:cxnLst/>
            <a:rect r="r" b="b" t="t" l="l"/>
            <a:pathLst>
              <a:path h="5255772" w="2785716">
                <a:moveTo>
                  <a:pt x="0" y="0"/>
                </a:moveTo>
                <a:lnTo>
                  <a:pt x="2785717" y="0"/>
                </a:lnTo>
                <a:lnTo>
                  <a:pt x="2785717" y="5255772"/>
                </a:lnTo>
                <a:lnTo>
                  <a:pt x="0" y="5255772"/>
                </a:lnTo>
                <a:lnTo>
                  <a:pt x="0" y="0"/>
                </a:lnTo>
                <a:close/>
              </a:path>
            </a:pathLst>
          </a:custGeom>
          <a:blipFill>
            <a:blip r:embed="rId16"/>
            <a:stretch>
              <a:fillRect l="0" t="-10402" r="0" b="-10402"/>
            </a:stretch>
          </a:blipFill>
        </p:spPr>
      </p:sp>
      <p:sp>
        <p:nvSpPr>
          <p:cNvPr name="Freeform 16" id="16"/>
          <p:cNvSpPr/>
          <p:nvPr/>
        </p:nvSpPr>
        <p:spPr>
          <a:xfrm flipH="false" flipV="false" rot="0">
            <a:off x="4647188" y="4301262"/>
            <a:ext cx="2615502" cy="1756627"/>
          </a:xfrm>
          <a:custGeom>
            <a:avLst/>
            <a:gdLst/>
            <a:ahLst/>
            <a:cxnLst/>
            <a:rect r="r" b="b" t="t" l="l"/>
            <a:pathLst>
              <a:path h="1756627" w="2615502">
                <a:moveTo>
                  <a:pt x="0" y="0"/>
                </a:moveTo>
                <a:lnTo>
                  <a:pt x="2615501" y="0"/>
                </a:lnTo>
                <a:lnTo>
                  <a:pt x="2615501" y="1756627"/>
                </a:lnTo>
                <a:lnTo>
                  <a:pt x="0" y="175662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7" id="17"/>
          <p:cNvSpPr txBox="true"/>
          <p:nvPr/>
        </p:nvSpPr>
        <p:spPr>
          <a:xfrm rot="0">
            <a:off x="6459615" y="2597146"/>
            <a:ext cx="9012786" cy="707089"/>
          </a:xfrm>
          <a:prstGeom prst="rect">
            <a:avLst/>
          </a:prstGeom>
        </p:spPr>
        <p:txBody>
          <a:bodyPr anchor="t" rtlCol="false" tIns="0" lIns="0" bIns="0" rIns="0">
            <a:spAutoFit/>
          </a:bodyPr>
          <a:lstStyle/>
          <a:p>
            <a:pPr algn="ctr">
              <a:lnSpc>
                <a:spcPts val="5301"/>
              </a:lnSpc>
            </a:pPr>
            <a:r>
              <a:rPr lang="en-US" sz="5147">
                <a:solidFill>
                  <a:srgbClr val="535454"/>
                </a:solidFill>
                <a:latin typeface="Press Start 2P"/>
                <a:ea typeface="Press Start 2P"/>
                <a:cs typeface="Press Start 2P"/>
                <a:sym typeface="Press Start 2P"/>
              </a:rPr>
              <a:t>DATA</a:t>
            </a:r>
          </a:p>
        </p:txBody>
      </p:sp>
      <p:sp>
        <p:nvSpPr>
          <p:cNvPr name="TextBox 18" id="18"/>
          <p:cNvSpPr txBox="true"/>
          <p:nvPr/>
        </p:nvSpPr>
        <p:spPr>
          <a:xfrm rot="0">
            <a:off x="8004644" y="3504260"/>
            <a:ext cx="6364502" cy="452563"/>
          </a:xfrm>
          <a:prstGeom prst="rect">
            <a:avLst/>
          </a:prstGeom>
        </p:spPr>
        <p:txBody>
          <a:bodyPr anchor="t" rtlCol="false" tIns="0" lIns="0" bIns="0" rIns="0">
            <a:spAutoFit/>
          </a:bodyPr>
          <a:lstStyle/>
          <a:p>
            <a:pPr algn="ctr">
              <a:lnSpc>
                <a:spcPts val="3489"/>
              </a:lnSpc>
            </a:pPr>
            <a:r>
              <a:rPr lang="en-US" sz="2747" spc="134">
                <a:solidFill>
                  <a:srgbClr val="535454"/>
                </a:solidFill>
                <a:latin typeface="Arcade Gamer"/>
                <a:ea typeface="Arcade Gamer"/>
                <a:cs typeface="Arcade Gamer"/>
                <a:sym typeface="Arcade Gamer"/>
              </a:rPr>
              <a:t>TOP 3 GAME ACTION FPS</a:t>
            </a:r>
          </a:p>
        </p:txBody>
      </p:sp>
      <p:sp>
        <p:nvSpPr>
          <p:cNvPr name="TextBox 19" id="19"/>
          <p:cNvSpPr txBox="true"/>
          <p:nvPr/>
        </p:nvSpPr>
        <p:spPr>
          <a:xfrm rot="0">
            <a:off x="9144000" y="5831190"/>
            <a:ext cx="4085790" cy="391689"/>
          </a:xfrm>
          <a:prstGeom prst="rect">
            <a:avLst/>
          </a:prstGeom>
        </p:spPr>
        <p:txBody>
          <a:bodyPr anchor="t" rtlCol="false" tIns="0" lIns="0" bIns="0" rIns="0">
            <a:spAutoFit/>
          </a:bodyPr>
          <a:lstStyle/>
          <a:p>
            <a:pPr algn="ctr">
              <a:lnSpc>
                <a:spcPts val="2782"/>
              </a:lnSpc>
              <a:spcBef>
                <a:spcPct val="0"/>
              </a:spcBef>
            </a:pPr>
            <a:r>
              <a:rPr lang="en-US" sz="2700">
                <a:solidFill>
                  <a:srgbClr val="535454"/>
                </a:solidFill>
                <a:latin typeface="Arcade Gamer"/>
                <a:ea typeface="Arcade Gamer"/>
                <a:cs typeface="Arcade Gamer"/>
                <a:sym typeface="Arcade Gamer"/>
              </a:rPr>
              <a:t>9000 data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4333750" y="6186202"/>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58255" y="782171"/>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6">
              <a:extLst>
                <a:ext uri="{96DAC541-7B7A-43D3-8B79-37D633B846F1}">
                  <asvg:svgBlip xmlns:asvg="http://schemas.microsoft.com/office/drawing/2016/SVG/main" r:embed="rId7"/>
                </a:ext>
              </a:extLst>
            </a:blip>
            <a:stretch>
              <a:fillRect l="-1664" t="0" r="0" b="-114354"/>
            </a:stretch>
          </a:blipFill>
        </p:spPr>
      </p:sp>
      <p:sp>
        <p:nvSpPr>
          <p:cNvPr name="Freeform 5" id="5"/>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6">
              <a:extLst>
                <a:ext uri="{96DAC541-7B7A-43D3-8B79-37D633B846F1}">
                  <asvg:svgBlip xmlns:asvg="http://schemas.microsoft.com/office/drawing/2016/SVG/main" r:embed="rId7"/>
                </a:ext>
              </a:extLst>
            </a:blip>
            <a:stretch>
              <a:fillRect l="-326" t="-20627" r="0" b="-137943"/>
            </a:stretch>
          </a:blipFill>
        </p:spPr>
      </p:sp>
      <p:sp>
        <p:nvSpPr>
          <p:cNvPr name="Freeform 6" id="6"/>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6">
              <a:extLst>
                <a:ext uri="{96DAC541-7B7A-43D3-8B79-37D633B846F1}">
                  <asvg:svgBlip xmlns:asvg="http://schemas.microsoft.com/office/drawing/2016/SVG/main" r:embed="rId7"/>
                </a:ext>
              </a:extLst>
            </a:blip>
            <a:stretch>
              <a:fillRect l="-1664" t="0" r="0" b="-114354"/>
            </a:stretch>
          </a:blipFill>
        </p:spPr>
      </p:sp>
      <p:sp>
        <p:nvSpPr>
          <p:cNvPr name="Freeform 7" id="7"/>
          <p:cNvSpPr/>
          <p:nvPr/>
        </p:nvSpPr>
        <p:spPr>
          <a:xfrm flipH="false" flipV="false" rot="0">
            <a:off x="1421713" y="5907046"/>
            <a:ext cx="1109468" cy="2524877"/>
          </a:xfrm>
          <a:custGeom>
            <a:avLst/>
            <a:gdLst/>
            <a:ahLst/>
            <a:cxnLst/>
            <a:rect r="r" b="b" t="t" l="l"/>
            <a:pathLst>
              <a:path h="2524877" w="1109468">
                <a:moveTo>
                  <a:pt x="0" y="0"/>
                </a:moveTo>
                <a:lnTo>
                  <a:pt x="1109469" y="0"/>
                </a:lnTo>
                <a:lnTo>
                  <a:pt x="1109469" y="2524877"/>
                </a:lnTo>
                <a:lnTo>
                  <a:pt x="0" y="2524877"/>
                </a:lnTo>
                <a:lnTo>
                  <a:pt x="0" y="0"/>
                </a:lnTo>
                <a:close/>
              </a:path>
            </a:pathLst>
          </a:custGeom>
          <a:blipFill>
            <a:blip r:embed="rId8">
              <a:extLst>
                <a:ext uri="{96DAC541-7B7A-43D3-8B79-37D633B846F1}">
                  <asvg:svgBlip xmlns:asvg="http://schemas.microsoft.com/office/drawing/2016/SVG/main" r:embed="rId9"/>
                </a:ext>
              </a:extLst>
            </a:blip>
            <a:stretch>
              <a:fillRect l="0" t="0" r="0" b="-3281"/>
            </a:stretch>
          </a:blipFill>
        </p:spPr>
      </p:sp>
      <p:sp>
        <p:nvSpPr>
          <p:cNvPr name="Freeform 8" id="8"/>
          <p:cNvSpPr/>
          <p:nvPr/>
        </p:nvSpPr>
        <p:spPr>
          <a:xfrm flipH="false" flipV="false" rot="0">
            <a:off x="-179017" y="2929773"/>
            <a:ext cx="2980461" cy="839948"/>
          </a:xfrm>
          <a:custGeom>
            <a:avLst/>
            <a:gdLst/>
            <a:ahLst/>
            <a:cxnLst/>
            <a:rect r="r" b="b" t="t" l="l"/>
            <a:pathLst>
              <a:path h="839948" w="2980461">
                <a:moveTo>
                  <a:pt x="0" y="0"/>
                </a:moveTo>
                <a:lnTo>
                  <a:pt x="2980460" y="0"/>
                </a:lnTo>
                <a:lnTo>
                  <a:pt x="2980460"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7199197" y="7996849"/>
            <a:ext cx="1178951" cy="282023"/>
          </a:xfrm>
          <a:custGeom>
            <a:avLst/>
            <a:gdLst/>
            <a:ahLst/>
            <a:cxnLst/>
            <a:rect r="r" b="b" t="t" l="l"/>
            <a:pathLst>
              <a:path h="282023" w="1178951">
                <a:moveTo>
                  <a:pt x="0" y="0"/>
                </a:moveTo>
                <a:lnTo>
                  <a:pt x="1178951" y="0"/>
                </a:lnTo>
                <a:lnTo>
                  <a:pt x="1178951" y="282023"/>
                </a:lnTo>
                <a:lnTo>
                  <a:pt x="0" y="282023"/>
                </a:lnTo>
                <a:lnTo>
                  <a:pt x="0" y="0"/>
                </a:lnTo>
                <a:close/>
              </a:path>
            </a:pathLst>
          </a:custGeom>
          <a:blipFill>
            <a:blip r:embed="rId10">
              <a:extLst>
                <a:ext uri="{96DAC541-7B7A-43D3-8B79-37D633B846F1}">
                  <asvg:svgBlip xmlns:asvg="http://schemas.microsoft.com/office/drawing/2016/SVG/main" r:embed="rId11"/>
                </a:ext>
              </a:extLst>
            </a:blip>
            <a:stretch>
              <a:fillRect l="0" t="0" r="0" b="-318033"/>
            </a:stretch>
          </a:blipFill>
        </p:spPr>
      </p:sp>
      <p:sp>
        <p:nvSpPr>
          <p:cNvPr name="Freeform 10" id="10"/>
          <p:cNvSpPr/>
          <p:nvPr/>
        </p:nvSpPr>
        <p:spPr>
          <a:xfrm flipH="false" flipV="false" rot="0">
            <a:off x="0"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1" id="11"/>
          <p:cNvSpPr/>
          <p:nvPr/>
        </p:nvSpPr>
        <p:spPr>
          <a:xfrm flipH="false" flipV="false" rot="0">
            <a:off x="8219856"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2" id="12"/>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3" id="13"/>
          <p:cNvSpPr/>
          <p:nvPr/>
        </p:nvSpPr>
        <p:spPr>
          <a:xfrm flipH="false" flipV="false" rot="0">
            <a:off x="2616907" y="7081419"/>
            <a:ext cx="593432" cy="1350504"/>
          </a:xfrm>
          <a:custGeom>
            <a:avLst/>
            <a:gdLst/>
            <a:ahLst/>
            <a:cxnLst/>
            <a:rect r="r" b="b" t="t" l="l"/>
            <a:pathLst>
              <a:path h="1350504" w="593432">
                <a:moveTo>
                  <a:pt x="0" y="0"/>
                </a:moveTo>
                <a:lnTo>
                  <a:pt x="593431" y="0"/>
                </a:lnTo>
                <a:lnTo>
                  <a:pt x="593431" y="1350504"/>
                </a:lnTo>
                <a:lnTo>
                  <a:pt x="0" y="1350504"/>
                </a:lnTo>
                <a:lnTo>
                  <a:pt x="0" y="0"/>
                </a:lnTo>
                <a:close/>
              </a:path>
            </a:pathLst>
          </a:custGeom>
          <a:blipFill>
            <a:blip r:embed="rId8">
              <a:extLst>
                <a:ext uri="{96DAC541-7B7A-43D3-8B79-37D633B846F1}">
                  <asvg:svgBlip xmlns:asvg="http://schemas.microsoft.com/office/drawing/2016/SVG/main" r:embed="rId9"/>
                </a:ext>
              </a:extLst>
            </a:blip>
            <a:stretch>
              <a:fillRect l="0" t="0" r="0" b="-3281"/>
            </a:stretch>
          </a:blipFill>
        </p:spPr>
      </p:sp>
      <p:sp>
        <p:nvSpPr>
          <p:cNvPr name="Freeform 14" id="14"/>
          <p:cNvSpPr/>
          <p:nvPr/>
        </p:nvSpPr>
        <p:spPr>
          <a:xfrm flipH="false" flipV="false" rot="0">
            <a:off x="15307539" y="3349747"/>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4317563" y="2348623"/>
            <a:ext cx="9671925" cy="695782"/>
          </a:xfrm>
          <a:prstGeom prst="rect">
            <a:avLst/>
          </a:prstGeom>
        </p:spPr>
        <p:txBody>
          <a:bodyPr anchor="t" rtlCol="false" tIns="0" lIns="0" bIns="0" rIns="0">
            <a:spAutoFit/>
          </a:bodyPr>
          <a:lstStyle/>
          <a:p>
            <a:pPr algn="ctr">
              <a:lnSpc>
                <a:spcPts val="5225"/>
              </a:lnSpc>
            </a:pPr>
            <a:r>
              <a:rPr lang="en-US" sz="5072">
                <a:solidFill>
                  <a:srgbClr val="535454"/>
                </a:solidFill>
                <a:latin typeface="Press Start 2P"/>
                <a:ea typeface="Press Start 2P"/>
                <a:cs typeface="Press Start 2P"/>
                <a:sym typeface="Press Start 2P"/>
              </a:rPr>
              <a:t>PREPROCESSING</a:t>
            </a:r>
          </a:p>
        </p:txBody>
      </p:sp>
      <p:sp>
        <p:nvSpPr>
          <p:cNvPr name="Freeform 16" id="16"/>
          <p:cNvSpPr/>
          <p:nvPr/>
        </p:nvSpPr>
        <p:spPr>
          <a:xfrm flipH="false" flipV="false" rot="0">
            <a:off x="3816002" y="3692105"/>
            <a:ext cx="2830413" cy="1291295"/>
          </a:xfrm>
          <a:custGeom>
            <a:avLst/>
            <a:gdLst/>
            <a:ahLst/>
            <a:cxnLst/>
            <a:rect r="r" b="b" t="t" l="l"/>
            <a:pathLst>
              <a:path h="1291295" w="2830413">
                <a:moveTo>
                  <a:pt x="0" y="0"/>
                </a:moveTo>
                <a:lnTo>
                  <a:pt x="2830414" y="0"/>
                </a:lnTo>
                <a:lnTo>
                  <a:pt x="2830414" y="1291294"/>
                </a:lnTo>
                <a:lnTo>
                  <a:pt x="0" y="129129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7" id="17"/>
          <p:cNvSpPr txBox="true"/>
          <p:nvPr/>
        </p:nvSpPr>
        <p:spPr>
          <a:xfrm rot="0">
            <a:off x="3502158" y="4187564"/>
            <a:ext cx="3458102" cy="300377"/>
          </a:xfrm>
          <a:prstGeom prst="rect">
            <a:avLst/>
          </a:prstGeom>
        </p:spPr>
        <p:txBody>
          <a:bodyPr anchor="t" rtlCol="false" tIns="0" lIns="0" bIns="0" rIns="0">
            <a:spAutoFit/>
          </a:bodyPr>
          <a:lstStyle/>
          <a:p>
            <a:pPr algn="ctr">
              <a:lnSpc>
                <a:spcPts val="2061"/>
              </a:lnSpc>
              <a:spcBef>
                <a:spcPct val="0"/>
              </a:spcBef>
            </a:pPr>
            <a:r>
              <a:rPr lang="en-US" sz="2000">
                <a:solidFill>
                  <a:srgbClr val="535454"/>
                </a:solidFill>
                <a:latin typeface="Arcade Gamer"/>
                <a:ea typeface="Arcade Gamer"/>
                <a:cs typeface="Arcade Gamer"/>
                <a:sym typeface="Arcade Gamer"/>
              </a:rPr>
              <a:t>case foldIng</a:t>
            </a:r>
          </a:p>
        </p:txBody>
      </p:sp>
      <p:sp>
        <p:nvSpPr>
          <p:cNvPr name="Freeform 18" id="18"/>
          <p:cNvSpPr/>
          <p:nvPr/>
        </p:nvSpPr>
        <p:spPr>
          <a:xfrm flipH="false" flipV="false" rot="0">
            <a:off x="7715939" y="3692105"/>
            <a:ext cx="2830413" cy="1291295"/>
          </a:xfrm>
          <a:custGeom>
            <a:avLst/>
            <a:gdLst/>
            <a:ahLst/>
            <a:cxnLst/>
            <a:rect r="r" b="b" t="t" l="l"/>
            <a:pathLst>
              <a:path h="1291295" w="2830413">
                <a:moveTo>
                  <a:pt x="0" y="0"/>
                </a:moveTo>
                <a:lnTo>
                  <a:pt x="2830414" y="0"/>
                </a:lnTo>
                <a:lnTo>
                  <a:pt x="2830414" y="1291294"/>
                </a:lnTo>
                <a:lnTo>
                  <a:pt x="0" y="129129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9" id="19"/>
          <p:cNvSpPr txBox="true"/>
          <p:nvPr/>
        </p:nvSpPr>
        <p:spPr>
          <a:xfrm rot="0">
            <a:off x="7402095" y="4187564"/>
            <a:ext cx="3458102" cy="300377"/>
          </a:xfrm>
          <a:prstGeom prst="rect">
            <a:avLst/>
          </a:prstGeom>
        </p:spPr>
        <p:txBody>
          <a:bodyPr anchor="t" rtlCol="false" tIns="0" lIns="0" bIns="0" rIns="0">
            <a:spAutoFit/>
          </a:bodyPr>
          <a:lstStyle/>
          <a:p>
            <a:pPr algn="ctr">
              <a:lnSpc>
                <a:spcPts val="2061"/>
              </a:lnSpc>
              <a:spcBef>
                <a:spcPct val="0"/>
              </a:spcBef>
            </a:pPr>
            <a:r>
              <a:rPr lang="en-US" sz="2000">
                <a:solidFill>
                  <a:srgbClr val="535454"/>
                </a:solidFill>
                <a:latin typeface="Arcade Gamer"/>
                <a:ea typeface="Arcade Gamer"/>
                <a:cs typeface="Arcade Gamer"/>
                <a:sym typeface="Arcade Gamer"/>
              </a:rPr>
              <a:t>cleanINg</a:t>
            </a:r>
          </a:p>
        </p:txBody>
      </p:sp>
      <p:sp>
        <p:nvSpPr>
          <p:cNvPr name="Freeform 20" id="20"/>
          <p:cNvSpPr/>
          <p:nvPr/>
        </p:nvSpPr>
        <p:spPr>
          <a:xfrm flipH="false" flipV="false" rot="0">
            <a:off x="7715939" y="5549395"/>
            <a:ext cx="2830413" cy="1291295"/>
          </a:xfrm>
          <a:custGeom>
            <a:avLst/>
            <a:gdLst/>
            <a:ahLst/>
            <a:cxnLst/>
            <a:rect r="r" b="b" t="t" l="l"/>
            <a:pathLst>
              <a:path h="1291295" w="2830413">
                <a:moveTo>
                  <a:pt x="0" y="0"/>
                </a:moveTo>
                <a:lnTo>
                  <a:pt x="2830414" y="0"/>
                </a:lnTo>
                <a:lnTo>
                  <a:pt x="2830414" y="1291295"/>
                </a:lnTo>
                <a:lnTo>
                  <a:pt x="0" y="129129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1" id="21"/>
          <p:cNvSpPr txBox="true"/>
          <p:nvPr/>
        </p:nvSpPr>
        <p:spPr>
          <a:xfrm rot="0">
            <a:off x="7402095" y="6044854"/>
            <a:ext cx="3458102" cy="300377"/>
          </a:xfrm>
          <a:prstGeom prst="rect">
            <a:avLst/>
          </a:prstGeom>
        </p:spPr>
        <p:txBody>
          <a:bodyPr anchor="t" rtlCol="false" tIns="0" lIns="0" bIns="0" rIns="0">
            <a:spAutoFit/>
          </a:bodyPr>
          <a:lstStyle/>
          <a:p>
            <a:pPr algn="ctr">
              <a:lnSpc>
                <a:spcPts val="2061"/>
              </a:lnSpc>
              <a:spcBef>
                <a:spcPct val="0"/>
              </a:spcBef>
            </a:pPr>
            <a:r>
              <a:rPr lang="en-US" sz="2000">
                <a:solidFill>
                  <a:srgbClr val="535454"/>
                </a:solidFill>
                <a:latin typeface="Arcade Gamer"/>
                <a:ea typeface="Arcade Gamer"/>
                <a:cs typeface="Arcade Gamer"/>
                <a:sym typeface="Arcade Gamer"/>
              </a:rPr>
              <a:t>slang words</a:t>
            </a:r>
          </a:p>
        </p:txBody>
      </p:sp>
      <p:sp>
        <p:nvSpPr>
          <p:cNvPr name="Freeform 22" id="22"/>
          <p:cNvSpPr/>
          <p:nvPr/>
        </p:nvSpPr>
        <p:spPr>
          <a:xfrm flipH="false" flipV="false" rot="0">
            <a:off x="11660634" y="3692105"/>
            <a:ext cx="2830413" cy="1291295"/>
          </a:xfrm>
          <a:custGeom>
            <a:avLst/>
            <a:gdLst/>
            <a:ahLst/>
            <a:cxnLst/>
            <a:rect r="r" b="b" t="t" l="l"/>
            <a:pathLst>
              <a:path h="1291295" w="2830413">
                <a:moveTo>
                  <a:pt x="0" y="0"/>
                </a:moveTo>
                <a:lnTo>
                  <a:pt x="2830414" y="0"/>
                </a:lnTo>
                <a:lnTo>
                  <a:pt x="2830414" y="1291294"/>
                </a:lnTo>
                <a:lnTo>
                  <a:pt x="0" y="129129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11346790" y="4187564"/>
            <a:ext cx="3458102" cy="300377"/>
          </a:xfrm>
          <a:prstGeom prst="rect">
            <a:avLst/>
          </a:prstGeom>
        </p:spPr>
        <p:txBody>
          <a:bodyPr anchor="t" rtlCol="false" tIns="0" lIns="0" bIns="0" rIns="0">
            <a:spAutoFit/>
          </a:bodyPr>
          <a:lstStyle/>
          <a:p>
            <a:pPr algn="ctr">
              <a:lnSpc>
                <a:spcPts val="2061"/>
              </a:lnSpc>
              <a:spcBef>
                <a:spcPct val="0"/>
              </a:spcBef>
            </a:pPr>
            <a:r>
              <a:rPr lang="en-US" sz="2000">
                <a:solidFill>
                  <a:srgbClr val="535454"/>
                </a:solidFill>
                <a:latin typeface="Arcade Gamer"/>
                <a:ea typeface="Arcade Gamer"/>
                <a:cs typeface="Arcade Gamer"/>
                <a:sym typeface="Arcade Gamer"/>
              </a:rPr>
              <a:t>stopwords</a:t>
            </a:r>
          </a:p>
        </p:txBody>
      </p:sp>
      <p:sp>
        <p:nvSpPr>
          <p:cNvPr name="Freeform 24" id="24"/>
          <p:cNvSpPr/>
          <p:nvPr/>
        </p:nvSpPr>
        <p:spPr>
          <a:xfrm flipH="false" flipV="false" rot="0">
            <a:off x="3816002" y="5549395"/>
            <a:ext cx="2830413" cy="1291295"/>
          </a:xfrm>
          <a:custGeom>
            <a:avLst/>
            <a:gdLst/>
            <a:ahLst/>
            <a:cxnLst/>
            <a:rect r="r" b="b" t="t" l="l"/>
            <a:pathLst>
              <a:path h="1291295" w="2830413">
                <a:moveTo>
                  <a:pt x="0" y="0"/>
                </a:moveTo>
                <a:lnTo>
                  <a:pt x="2830414" y="0"/>
                </a:lnTo>
                <a:lnTo>
                  <a:pt x="2830414" y="1291295"/>
                </a:lnTo>
                <a:lnTo>
                  <a:pt x="0" y="129129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5" id="25"/>
          <p:cNvSpPr txBox="true"/>
          <p:nvPr/>
        </p:nvSpPr>
        <p:spPr>
          <a:xfrm rot="0">
            <a:off x="3502158" y="6044854"/>
            <a:ext cx="3458102" cy="300377"/>
          </a:xfrm>
          <a:prstGeom prst="rect">
            <a:avLst/>
          </a:prstGeom>
        </p:spPr>
        <p:txBody>
          <a:bodyPr anchor="t" rtlCol="false" tIns="0" lIns="0" bIns="0" rIns="0">
            <a:spAutoFit/>
          </a:bodyPr>
          <a:lstStyle/>
          <a:p>
            <a:pPr algn="ctr">
              <a:lnSpc>
                <a:spcPts val="2061"/>
              </a:lnSpc>
              <a:spcBef>
                <a:spcPct val="0"/>
              </a:spcBef>
            </a:pPr>
            <a:r>
              <a:rPr lang="en-US" sz="2000">
                <a:solidFill>
                  <a:srgbClr val="535454"/>
                </a:solidFill>
                <a:latin typeface="Arcade Gamer"/>
                <a:ea typeface="Arcade Gamer"/>
                <a:cs typeface="Arcade Gamer"/>
                <a:sym typeface="Arcade Gamer"/>
              </a:rPr>
              <a:t>stemmIng</a:t>
            </a:r>
          </a:p>
        </p:txBody>
      </p:sp>
      <p:sp>
        <p:nvSpPr>
          <p:cNvPr name="Freeform 26" id="26"/>
          <p:cNvSpPr/>
          <p:nvPr/>
        </p:nvSpPr>
        <p:spPr>
          <a:xfrm flipH="false" flipV="false" rot="0">
            <a:off x="11660634" y="5549395"/>
            <a:ext cx="2830413" cy="1291295"/>
          </a:xfrm>
          <a:custGeom>
            <a:avLst/>
            <a:gdLst/>
            <a:ahLst/>
            <a:cxnLst/>
            <a:rect r="r" b="b" t="t" l="l"/>
            <a:pathLst>
              <a:path h="1291295" w="2830413">
                <a:moveTo>
                  <a:pt x="0" y="0"/>
                </a:moveTo>
                <a:lnTo>
                  <a:pt x="2830414" y="0"/>
                </a:lnTo>
                <a:lnTo>
                  <a:pt x="2830414" y="1291295"/>
                </a:lnTo>
                <a:lnTo>
                  <a:pt x="0" y="129129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7" id="27"/>
          <p:cNvSpPr txBox="true"/>
          <p:nvPr/>
        </p:nvSpPr>
        <p:spPr>
          <a:xfrm rot="0">
            <a:off x="11346790" y="6044854"/>
            <a:ext cx="3458102" cy="300377"/>
          </a:xfrm>
          <a:prstGeom prst="rect">
            <a:avLst/>
          </a:prstGeom>
        </p:spPr>
        <p:txBody>
          <a:bodyPr anchor="t" rtlCol="false" tIns="0" lIns="0" bIns="0" rIns="0">
            <a:spAutoFit/>
          </a:bodyPr>
          <a:lstStyle/>
          <a:p>
            <a:pPr algn="ctr">
              <a:lnSpc>
                <a:spcPts val="2061"/>
              </a:lnSpc>
              <a:spcBef>
                <a:spcPct val="0"/>
              </a:spcBef>
            </a:pPr>
            <a:r>
              <a:rPr lang="en-US" sz="2000">
                <a:solidFill>
                  <a:srgbClr val="535454"/>
                </a:solidFill>
                <a:latin typeface="Arcade Gamer"/>
                <a:ea typeface="Arcade Gamer"/>
                <a:cs typeface="Arcade Gamer"/>
                <a:sym typeface="Arcade Gamer"/>
              </a:rPr>
              <a:t>normalIzatIon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5706743" y="6186202"/>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4">
              <a:extLst>
                <a:ext uri="{96DAC541-7B7A-43D3-8B79-37D633B846F1}">
                  <asvg:svgBlip xmlns:asvg="http://schemas.microsoft.com/office/drawing/2016/SVG/main" r:embed="rId5"/>
                </a:ext>
              </a:extLst>
            </a:blip>
            <a:stretch>
              <a:fillRect l="-1664" t="0" r="0" b="-114354"/>
            </a:stretch>
          </a:blipFill>
        </p:spPr>
      </p:sp>
      <p:sp>
        <p:nvSpPr>
          <p:cNvPr name="Freeform 4" id="4"/>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4">
              <a:extLst>
                <a:ext uri="{96DAC541-7B7A-43D3-8B79-37D633B846F1}">
                  <asvg:svgBlip xmlns:asvg="http://schemas.microsoft.com/office/drawing/2016/SVG/main" r:embed="rId5"/>
                </a:ext>
              </a:extLst>
            </a:blip>
            <a:stretch>
              <a:fillRect l="-326" t="-20627" r="0" b="-137943"/>
            </a:stretch>
          </a:blipFill>
        </p:spPr>
      </p:sp>
      <p:sp>
        <p:nvSpPr>
          <p:cNvPr name="Freeform 5" id="5"/>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4">
              <a:extLst>
                <a:ext uri="{96DAC541-7B7A-43D3-8B79-37D633B846F1}">
                  <asvg:svgBlip xmlns:asvg="http://schemas.microsoft.com/office/drawing/2016/SVG/main" r:embed="rId5"/>
                </a:ext>
              </a:extLst>
            </a:blip>
            <a:stretch>
              <a:fillRect l="-1664" t="0" r="0" b="-114354"/>
            </a:stretch>
          </a:blipFill>
        </p:spPr>
      </p:sp>
      <p:sp>
        <p:nvSpPr>
          <p:cNvPr name="Freeform 6" id="6"/>
          <p:cNvSpPr/>
          <p:nvPr/>
        </p:nvSpPr>
        <p:spPr>
          <a:xfrm flipH="false" flipV="false" rot="0">
            <a:off x="1800384" y="6026748"/>
            <a:ext cx="1109468" cy="2524877"/>
          </a:xfrm>
          <a:custGeom>
            <a:avLst/>
            <a:gdLst/>
            <a:ahLst/>
            <a:cxnLst/>
            <a:rect r="r" b="b" t="t" l="l"/>
            <a:pathLst>
              <a:path h="2524877" w="1109468">
                <a:moveTo>
                  <a:pt x="0" y="0"/>
                </a:moveTo>
                <a:lnTo>
                  <a:pt x="1109468" y="0"/>
                </a:lnTo>
                <a:lnTo>
                  <a:pt x="1109468" y="2524877"/>
                </a:lnTo>
                <a:lnTo>
                  <a:pt x="0" y="2524877"/>
                </a:lnTo>
                <a:lnTo>
                  <a:pt x="0" y="0"/>
                </a:lnTo>
                <a:close/>
              </a:path>
            </a:pathLst>
          </a:custGeom>
          <a:blipFill>
            <a:blip r:embed="rId6">
              <a:extLst>
                <a:ext uri="{96DAC541-7B7A-43D3-8B79-37D633B846F1}">
                  <asvg:svgBlip xmlns:asvg="http://schemas.microsoft.com/office/drawing/2016/SVG/main" r:embed="rId7"/>
                </a:ext>
              </a:extLst>
            </a:blip>
            <a:stretch>
              <a:fillRect l="0" t="0" r="0" b="-3281"/>
            </a:stretch>
          </a:blipFill>
        </p:spPr>
      </p:sp>
      <p:sp>
        <p:nvSpPr>
          <p:cNvPr name="Freeform 7" id="7"/>
          <p:cNvSpPr/>
          <p:nvPr/>
        </p:nvSpPr>
        <p:spPr>
          <a:xfrm flipH="false" flipV="false" rot="0">
            <a:off x="726187" y="1028700"/>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7199197" y="7996849"/>
            <a:ext cx="1178951" cy="282023"/>
          </a:xfrm>
          <a:custGeom>
            <a:avLst/>
            <a:gdLst/>
            <a:ahLst/>
            <a:cxnLst/>
            <a:rect r="r" b="b" t="t" l="l"/>
            <a:pathLst>
              <a:path h="282023" w="1178951">
                <a:moveTo>
                  <a:pt x="0" y="0"/>
                </a:moveTo>
                <a:lnTo>
                  <a:pt x="1178951" y="0"/>
                </a:lnTo>
                <a:lnTo>
                  <a:pt x="1178951" y="282023"/>
                </a:lnTo>
                <a:lnTo>
                  <a:pt x="0" y="282023"/>
                </a:lnTo>
                <a:lnTo>
                  <a:pt x="0" y="0"/>
                </a:lnTo>
                <a:close/>
              </a:path>
            </a:pathLst>
          </a:custGeom>
          <a:blipFill>
            <a:blip r:embed="rId10">
              <a:extLst>
                <a:ext uri="{96DAC541-7B7A-43D3-8B79-37D633B846F1}">
                  <asvg:svgBlip xmlns:asvg="http://schemas.microsoft.com/office/drawing/2016/SVG/main" r:embed="rId11"/>
                </a:ext>
              </a:extLst>
            </a:blip>
            <a:stretch>
              <a:fillRect l="0" t="0" r="0" b="-318033"/>
            </a:stretch>
          </a:blipFill>
        </p:spPr>
      </p:sp>
      <p:sp>
        <p:nvSpPr>
          <p:cNvPr name="Freeform 9" id="9"/>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932" t="0" r="-20604" b="0"/>
            </a:stretch>
          </a:blipFill>
        </p:spPr>
      </p:sp>
      <p:sp>
        <p:nvSpPr>
          <p:cNvPr name="Freeform 10" id="10"/>
          <p:cNvSpPr/>
          <p:nvPr/>
        </p:nvSpPr>
        <p:spPr>
          <a:xfrm flipH="false" flipV="false" rot="0">
            <a:off x="8219856"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1" id="11"/>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2" id="12"/>
          <p:cNvSpPr/>
          <p:nvPr/>
        </p:nvSpPr>
        <p:spPr>
          <a:xfrm flipH="false" flipV="false" rot="0">
            <a:off x="1028700" y="7169484"/>
            <a:ext cx="593432" cy="1350504"/>
          </a:xfrm>
          <a:custGeom>
            <a:avLst/>
            <a:gdLst/>
            <a:ahLst/>
            <a:cxnLst/>
            <a:rect r="r" b="b" t="t" l="l"/>
            <a:pathLst>
              <a:path h="1350504" w="593432">
                <a:moveTo>
                  <a:pt x="0" y="0"/>
                </a:moveTo>
                <a:lnTo>
                  <a:pt x="593432" y="0"/>
                </a:lnTo>
                <a:lnTo>
                  <a:pt x="593432" y="1350505"/>
                </a:lnTo>
                <a:lnTo>
                  <a:pt x="0" y="1350505"/>
                </a:lnTo>
                <a:lnTo>
                  <a:pt x="0" y="0"/>
                </a:lnTo>
                <a:close/>
              </a:path>
            </a:pathLst>
          </a:custGeom>
          <a:blipFill>
            <a:blip r:embed="rId6">
              <a:extLst>
                <a:ext uri="{96DAC541-7B7A-43D3-8B79-37D633B846F1}">
                  <asvg:svgBlip xmlns:asvg="http://schemas.microsoft.com/office/drawing/2016/SVG/main" r:embed="rId7"/>
                </a:ext>
              </a:extLst>
            </a:blip>
            <a:stretch>
              <a:fillRect l="0" t="0" r="0" b="-3281"/>
            </a:stretch>
          </a:blipFill>
        </p:spPr>
      </p:sp>
      <p:sp>
        <p:nvSpPr>
          <p:cNvPr name="Freeform 13" id="13"/>
          <p:cNvSpPr/>
          <p:nvPr/>
        </p:nvSpPr>
        <p:spPr>
          <a:xfrm flipH="false" flipV="false" rot="0">
            <a:off x="14278839" y="2362167"/>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4412927" y="71694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6">
              <a:extLst>
                <a:ext uri="{96DAC541-7B7A-43D3-8B79-37D633B846F1}">
                  <asvg:svgBlip xmlns:asvg="http://schemas.microsoft.com/office/drawing/2016/SVG/main" r:embed="rId7"/>
                </a:ext>
              </a:extLst>
            </a:blip>
            <a:stretch>
              <a:fillRect l="0" t="0" r="0" b="-3281"/>
            </a:stretch>
          </a:blipFill>
        </p:spPr>
      </p:sp>
      <p:sp>
        <p:nvSpPr>
          <p:cNvPr name="Freeform 15" id="15"/>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10">
              <a:extLst>
                <a:ext uri="{96DAC541-7B7A-43D3-8B79-37D633B846F1}">
                  <asvg:svgBlip xmlns:asvg="http://schemas.microsoft.com/office/drawing/2016/SVG/main" r:embed="rId11"/>
                </a:ext>
              </a:extLst>
            </a:blip>
            <a:stretch>
              <a:fillRect l="0" t="0" r="0" b="-318033"/>
            </a:stretch>
          </a:blipFill>
        </p:spPr>
      </p:sp>
      <p:sp>
        <p:nvSpPr>
          <p:cNvPr name="TextBox 16" id="16"/>
          <p:cNvSpPr txBox="true"/>
          <p:nvPr/>
        </p:nvSpPr>
        <p:spPr>
          <a:xfrm rot="0">
            <a:off x="4308038" y="2438367"/>
            <a:ext cx="9671925" cy="695782"/>
          </a:xfrm>
          <a:prstGeom prst="rect">
            <a:avLst/>
          </a:prstGeom>
        </p:spPr>
        <p:txBody>
          <a:bodyPr anchor="t" rtlCol="false" tIns="0" lIns="0" bIns="0" rIns="0">
            <a:spAutoFit/>
          </a:bodyPr>
          <a:lstStyle/>
          <a:p>
            <a:pPr algn="ctr">
              <a:lnSpc>
                <a:spcPts val="5225"/>
              </a:lnSpc>
            </a:pPr>
            <a:r>
              <a:rPr lang="en-US" sz="5072">
                <a:solidFill>
                  <a:srgbClr val="535454"/>
                </a:solidFill>
                <a:latin typeface="Press Start 2P"/>
                <a:ea typeface="Press Start 2P"/>
                <a:cs typeface="Press Start 2P"/>
                <a:sym typeface="Press Start 2P"/>
              </a:rPr>
              <a:t>LABELING</a:t>
            </a:r>
          </a:p>
        </p:txBody>
      </p:sp>
      <p:sp>
        <p:nvSpPr>
          <p:cNvPr name="Freeform 17" id="17"/>
          <p:cNvSpPr/>
          <p:nvPr/>
        </p:nvSpPr>
        <p:spPr>
          <a:xfrm flipH="false" flipV="false" rot="0">
            <a:off x="3138992" y="4380486"/>
            <a:ext cx="3608472" cy="1646261"/>
          </a:xfrm>
          <a:custGeom>
            <a:avLst/>
            <a:gdLst/>
            <a:ahLst/>
            <a:cxnLst/>
            <a:rect r="r" b="b" t="t" l="l"/>
            <a:pathLst>
              <a:path h="1646261" w="3608472">
                <a:moveTo>
                  <a:pt x="0" y="0"/>
                </a:moveTo>
                <a:lnTo>
                  <a:pt x="3608472" y="0"/>
                </a:lnTo>
                <a:lnTo>
                  <a:pt x="3608472" y="1646262"/>
                </a:lnTo>
                <a:lnTo>
                  <a:pt x="0" y="16462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8" id="18"/>
          <p:cNvSpPr txBox="true"/>
          <p:nvPr/>
        </p:nvSpPr>
        <p:spPr>
          <a:xfrm rot="0">
            <a:off x="3214178" y="4719419"/>
            <a:ext cx="3458102" cy="996971"/>
          </a:xfrm>
          <a:prstGeom prst="rect">
            <a:avLst/>
          </a:prstGeom>
        </p:spPr>
        <p:txBody>
          <a:bodyPr anchor="t" rtlCol="false" tIns="0" lIns="0" bIns="0" rIns="0">
            <a:spAutoFit/>
          </a:bodyPr>
          <a:lstStyle/>
          <a:p>
            <a:pPr algn="ctr">
              <a:lnSpc>
                <a:spcPts val="2576"/>
              </a:lnSpc>
            </a:pPr>
            <a:r>
              <a:rPr lang="en-US" sz="2500">
                <a:solidFill>
                  <a:srgbClr val="535454"/>
                </a:solidFill>
                <a:latin typeface="Arcade Gamer"/>
                <a:ea typeface="Arcade Gamer"/>
                <a:cs typeface="Arcade Gamer"/>
                <a:sym typeface="Arcade Gamer"/>
              </a:rPr>
              <a:t>raTIng 1 &amp; 2</a:t>
            </a:r>
          </a:p>
          <a:p>
            <a:pPr algn="ctr">
              <a:lnSpc>
                <a:spcPts val="2576"/>
              </a:lnSpc>
              <a:spcBef>
                <a:spcPct val="0"/>
              </a:spcBef>
            </a:pPr>
            <a:r>
              <a:rPr lang="en-US" sz="2500">
                <a:solidFill>
                  <a:srgbClr val="535454"/>
                </a:solidFill>
                <a:latin typeface="Arcade Gamer"/>
                <a:ea typeface="Arcade Gamer"/>
                <a:cs typeface="Arcade Gamer"/>
                <a:sym typeface="Arcade Gamer"/>
              </a:rPr>
              <a:t>For negatIve sentIment</a:t>
            </a:r>
          </a:p>
        </p:txBody>
      </p:sp>
      <p:sp>
        <p:nvSpPr>
          <p:cNvPr name="TextBox 19" id="19"/>
          <p:cNvSpPr txBox="true"/>
          <p:nvPr/>
        </p:nvSpPr>
        <p:spPr>
          <a:xfrm rot="0">
            <a:off x="7414949" y="3162724"/>
            <a:ext cx="3458102" cy="349271"/>
          </a:xfrm>
          <a:prstGeom prst="rect">
            <a:avLst/>
          </a:prstGeom>
        </p:spPr>
        <p:txBody>
          <a:bodyPr anchor="t" rtlCol="false" tIns="0" lIns="0" bIns="0" rIns="0">
            <a:spAutoFit/>
          </a:bodyPr>
          <a:lstStyle/>
          <a:p>
            <a:pPr algn="ctr">
              <a:lnSpc>
                <a:spcPts val="2576"/>
              </a:lnSpc>
              <a:spcBef>
                <a:spcPct val="0"/>
              </a:spcBef>
            </a:pPr>
            <a:r>
              <a:rPr lang="en-US" sz="2500">
                <a:solidFill>
                  <a:srgbClr val="535454"/>
                </a:solidFill>
                <a:latin typeface="Arcade Gamer"/>
                <a:ea typeface="Arcade Gamer"/>
                <a:cs typeface="Arcade Gamer"/>
                <a:sym typeface="Arcade Gamer"/>
              </a:rPr>
              <a:t>usIng ratIng</a:t>
            </a:r>
          </a:p>
        </p:txBody>
      </p:sp>
      <p:sp>
        <p:nvSpPr>
          <p:cNvPr name="Freeform 20" id="20"/>
          <p:cNvSpPr/>
          <p:nvPr/>
        </p:nvSpPr>
        <p:spPr>
          <a:xfrm flipH="false" flipV="false" rot="0">
            <a:off x="7341514" y="4320369"/>
            <a:ext cx="3608472" cy="1646261"/>
          </a:xfrm>
          <a:custGeom>
            <a:avLst/>
            <a:gdLst/>
            <a:ahLst/>
            <a:cxnLst/>
            <a:rect r="r" b="b" t="t" l="l"/>
            <a:pathLst>
              <a:path h="1646261" w="3608472">
                <a:moveTo>
                  <a:pt x="0" y="0"/>
                </a:moveTo>
                <a:lnTo>
                  <a:pt x="3608472" y="0"/>
                </a:lnTo>
                <a:lnTo>
                  <a:pt x="3608472" y="1646262"/>
                </a:lnTo>
                <a:lnTo>
                  <a:pt x="0" y="16462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1" id="21"/>
          <p:cNvSpPr txBox="true"/>
          <p:nvPr/>
        </p:nvSpPr>
        <p:spPr>
          <a:xfrm rot="0">
            <a:off x="7416699" y="4659302"/>
            <a:ext cx="3458102" cy="996971"/>
          </a:xfrm>
          <a:prstGeom prst="rect">
            <a:avLst/>
          </a:prstGeom>
        </p:spPr>
        <p:txBody>
          <a:bodyPr anchor="t" rtlCol="false" tIns="0" lIns="0" bIns="0" rIns="0">
            <a:spAutoFit/>
          </a:bodyPr>
          <a:lstStyle/>
          <a:p>
            <a:pPr algn="ctr">
              <a:lnSpc>
                <a:spcPts val="2576"/>
              </a:lnSpc>
            </a:pPr>
            <a:r>
              <a:rPr lang="en-US" sz="2500">
                <a:solidFill>
                  <a:srgbClr val="535454"/>
                </a:solidFill>
                <a:latin typeface="Arcade Gamer"/>
                <a:ea typeface="Arcade Gamer"/>
                <a:cs typeface="Arcade Gamer"/>
                <a:sym typeface="Arcade Gamer"/>
              </a:rPr>
              <a:t>raTIng 3</a:t>
            </a:r>
          </a:p>
          <a:p>
            <a:pPr algn="ctr">
              <a:lnSpc>
                <a:spcPts val="2576"/>
              </a:lnSpc>
              <a:spcBef>
                <a:spcPct val="0"/>
              </a:spcBef>
            </a:pPr>
            <a:r>
              <a:rPr lang="en-US" sz="2500">
                <a:solidFill>
                  <a:srgbClr val="535454"/>
                </a:solidFill>
                <a:latin typeface="Arcade Gamer"/>
                <a:ea typeface="Arcade Gamer"/>
                <a:cs typeface="Arcade Gamer"/>
                <a:sym typeface="Arcade Gamer"/>
              </a:rPr>
              <a:t>For neutral sentIment</a:t>
            </a:r>
          </a:p>
        </p:txBody>
      </p:sp>
      <p:sp>
        <p:nvSpPr>
          <p:cNvPr name="Freeform 22" id="22"/>
          <p:cNvSpPr/>
          <p:nvPr/>
        </p:nvSpPr>
        <p:spPr>
          <a:xfrm flipH="false" flipV="false" rot="0">
            <a:off x="11540536" y="4320369"/>
            <a:ext cx="3608472" cy="1646261"/>
          </a:xfrm>
          <a:custGeom>
            <a:avLst/>
            <a:gdLst/>
            <a:ahLst/>
            <a:cxnLst/>
            <a:rect r="r" b="b" t="t" l="l"/>
            <a:pathLst>
              <a:path h="1646261" w="3608472">
                <a:moveTo>
                  <a:pt x="0" y="0"/>
                </a:moveTo>
                <a:lnTo>
                  <a:pt x="3608472" y="0"/>
                </a:lnTo>
                <a:lnTo>
                  <a:pt x="3608472" y="1646262"/>
                </a:lnTo>
                <a:lnTo>
                  <a:pt x="0" y="16462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11615721" y="4659302"/>
            <a:ext cx="3458102" cy="996971"/>
          </a:xfrm>
          <a:prstGeom prst="rect">
            <a:avLst/>
          </a:prstGeom>
        </p:spPr>
        <p:txBody>
          <a:bodyPr anchor="t" rtlCol="false" tIns="0" lIns="0" bIns="0" rIns="0">
            <a:spAutoFit/>
          </a:bodyPr>
          <a:lstStyle/>
          <a:p>
            <a:pPr algn="ctr">
              <a:lnSpc>
                <a:spcPts val="2576"/>
              </a:lnSpc>
            </a:pPr>
            <a:r>
              <a:rPr lang="en-US" sz="2500">
                <a:solidFill>
                  <a:srgbClr val="535454"/>
                </a:solidFill>
                <a:latin typeface="Arcade Gamer"/>
                <a:ea typeface="Arcade Gamer"/>
                <a:cs typeface="Arcade Gamer"/>
                <a:sym typeface="Arcade Gamer"/>
              </a:rPr>
              <a:t>raTIng 4 &amp; 5</a:t>
            </a:r>
          </a:p>
          <a:p>
            <a:pPr algn="ctr">
              <a:lnSpc>
                <a:spcPts val="2576"/>
              </a:lnSpc>
              <a:spcBef>
                <a:spcPct val="0"/>
              </a:spcBef>
            </a:pPr>
            <a:r>
              <a:rPr lang="en-US" sz="2500">
                <a:solidFill>
                  <a:srgbClr val="535454"/>
                </a:solidFill>
                <a:latin typeface="Arcade Gamer"/>
                <a:ea typeface="Arcade Gamer"/>
                <a:cs typeface="Arcade Gamer"/>
                <a:sym typeface="Arcade Gamer"/>
              </a:rPr>
              <a:t>For posItIve sentIment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461530" y="4189695"/>
            <a:ext cx="2980461" cy="839948"/>
          </a:xfrm>
          <a:custGeom>
            <a:avLst/>
            <a:gdLst/>
            <a:ahLst/>
            <a:cxnLst/>
            <a:rect r="r" b="b" t="t" l="l"/>
            <a:pathLst>
              <a:path h="839948" w="2980461">
                <a:moveTo>
                  <a:pt x="0" y="0"/>
                </a:moveTo>
                <a:lnTo>
                  <a:pt x="2980460" y="0"/>
                </a:lnTo>
                <a:lnTo>
                  <a:pt x="2980460"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99197" y="7996849"/>
            <a:ext cx="1178951" cy="282023"/>
          </a:xfrm>
          <a:custGeom>
            <a:avLst/>
            <a:gdLst/>
            <a:ahLst/>
            <a:cxnLst/>
            <a:rect r="r" b="b" t="t" l="l"/>
            <a:pathLst>
              <a:path h="282023" w="1178951">
                <a:moveTo>
                  <a:pt x="0" y="0"/>
                </a:moveTo>
                <a:lnTo>
                  <a:pt x="1178951" y="0"/>
                </a:lnTo>
                <a:lnTo>
                  <a:pt x="1178951" y="282023"/>
                </a:lnTo>
                <a:lnTo>
                  <a:pt x="0" y="282023"/>
                </a:lnTo>
                <a:lnTo>
                  <a:pt x="0" y="0"/>
                </a:lnTo>
                <a:close/>
              </a:path>
            </a:pathLst>
          </a:custGeom>
          <a:blipFill>
            <a:blip r:embed="rId6">
              <a:extLst>
                <a:ext uri="{96DAC541-7B7A-43D3-8B79-37D633B846F1}">
                  <asvg:svgBlip xmlns:asvg="http://schemas.microsoft.com/office/drawing/2016/SVG/main" r:embed="rId7"/>
                </a:ext>
              </a:extLst>
            </a:blip>
            <a:stretch>
              <a:fillRect l="0" t="0" r="0" b="-318033"/>
            </a:stretch>
          </a:blipFill>
        </p:spPr>
      </p:sp>
      <p:sp>
        <p:nvSpPr>
          <p:cNvPr name="Freeform 7" id="7"/>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8">
              <a:extLst>
                <a:ext uri="{96DAC541-7B7A-43D3-8B79-37D633B846F1}">
                  <asvg:svgBlip xmlns:asvg="http://schemas.microsoft.com/office/drawing/2016/SVG/main" r:embed="rId9"/>
                </a:ext>
              </a:extLst>
            </a:blip>
            <a:stretch>
              <a:fillRect l="-932" t="0" r="-20604" b="0"/>
            </a:stretch>
          </a:blipFill>
        </p:spPr>
      </p:sp>
      <p:sp>
        <p:nvSpPr>
          <p:cNvPr name="Freeform 8" id="8"/>
          <p:cNvSpPr/>
          <p:nvPr/>
        </p:nvSpPr>
        <p:spPr>
          <a:xfrm flipH="false" flipV="false" rot="0">
            <a:off x="8219856"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8">
              <a:extLst>
                <a:ext uri="{96DAC541-7B7A-43D3-8B79-37D633B846F1}">
                  <asvg:svgBlip xmlns:asvg="http://schemas.microsoft.com/office/drawing/2016/SVG/main" r:embed="rId9"/>
                </a:ext>
              </a:extLst>
            </a:blip>
            <a:stretch>
              <a:fillRect l="-816" t="0" r="-5586" b="0"/>
            </a:stretch>
          </a:blipFill>
        </p:spPr>
      </p:sp>
      <p:sp>
        <p:nvSpPr>
          <p:cNvPr name="Freeform 9" id="9"/>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8">
              <a:extLst>
                <a:ext uri="{96DAC541-7B7A-43D3-8B79-37D633B846F1}">
                  <asvg:svgBlip xmlns:asvg="http://schemas.microsoft.com/office/drawing/2016/SVG/main" r:embed="rId9"/>
                </a:ext>
              </a:extLst>
            </a:blip>
            <a:stretch>
              <a:fillRect l="-816" t="0" r="-5586" b="0"/>
            </a:stretch>
          </a:blipFill>
        </p:spPr>
      </p:sp>
      <p:sp>
        <p:nvSpPr>
          <p:cNvPr name="Freeform 10" id="10"/>
          <p:cNvSpPr/>
          <p:nvPr/>
        </p:nvSpPr>
        <p:spPr>
          <a:xfrm flipH="false" flipV="false" rot="0">
            <a:off x="15769070" y="1875736"/>
            <a:ext cx="2980461" cy="839948"/>
          </a:xfrm>
          <a:custGeom>
            <a:avLst/>
            <a:gdLst/>
            <a:ahLst/>
            <a:cxnLst/>
            <a:rect r="r" b="b" t="t" l="l"/>
            <a:pathLst>
              <a:path h="839948" w="2980461">
                <a:moveTo>
                  <a:pt x="0" y="0"/>
                </a:moveTo>
                <a:lnTo>
                  <a:pt x="2980460" y="0"/>
                </a:lnTo>
                <a:lnTo>
                  <a:pt x="2980460"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6">
              <a:extLst>
                <a:ext uri="{96DAC541-7B7A-43D3-8B79-37D633B846F1}">
                  <asvg:svgBlip xmlns:asvg="http://schemas.microsoft.com/office/drawing/2016/SVG/main" r:embed="rId7"/>
                </a:ext>
              </a:extLst>
            </a:blip>
            <a:stretch>
              <a:fillRect l="0" t="0" r="0" b="-318033"/>
            </a:stretch>
          </a:blipFill>
        </p:spPr>
      </p:sp>
      <p:sp>
        <p:nvSpPr>
          <p:cNvPr name="Freeform 12" id="12"/>
          <p:cNvSpPr/>
          <p:nvPr/>
        </p:nvSpPr>
        <p:spPr>
          <a:xfrm flipH="false" flipV="false" rot="0">
            <a:off x="1024848" y="3247031"/>
            <a:ext cx="7806403" cy="4654568"/>
          </a:xfrm>
          <a:custGeom>
            <a:avLst/>
            <a:gdLst/>
            <a:ahLst/>
            <a:cxnLst/>
            <a:rect r="r" b="b" t="t" l="l"/>
            <a:pathLst>
              <a:path h="4654568" w="7806403">
                <a:moveTo>
                  <a:pt x="0" y="0"/>
                </a:moveTo>
                <a:lnTo>
                  <a:pt x="7806403" y="0"/>
                </a:lnTo>
                <a:lnTo>
                  <a:pt x="7806403" y="4654568"/>
                </a:lnTo>
                <a:lnTo>
                  <a:pt x="0" y="4654568"/>
                </a:lnTo>
                <a:lnTo>
                  <a:pt x="0" y="0"/>
                </a:lnTo>
                <a:close/>
              </a:path>
            </a:pathLst>
          </a:custGeom>
          <a:blipFill>
            <a:blip r:embed="rId10"/>
            <a:stretch>
              <a:fillRect l="0" t="0" r="0" b="0"/>
            </a:stretch>
          </a:blipFill>
        </p:spPr>
      </p:sp>
      <p:sp>
        <p:nvSpPr>
          <p:cNvPr name="TextBox 13" id="13"/>
          <p:cNvSpPr txBox="true"/>
          <p:nvPr/>
        </p:nvSpPr>
        <p:spPr>
          <a:xfrm rot="0">
            <a:off x="5353532" y="421544"/>
            <a:ext cx="7573232" cy="1561831"/>
          </a:xfrm>
          <a:prstGeom prst="rect">
            <a:avLst/>
          </a:prstGeom>
        </p:spPr>
        <p:txBody>
          <a:bodyPr anchor="t" rtlCol="false" tIns="0" lIns="0" bIns="0" rIns="0">
            <a:spAutoFit/>
          </a:bodyPr>
          <a:lstStyle/>
          <a:p>
            <a:pPr algn="ctr">
              <a:lnSpc>
                <a:spcPts val="5894"/>
              </a:lnSpc>
              <a:spcBef>
                <a:spcPct val="0"/>
              </a:spcBef>
            </a:pPr>
            <a:r>
              <a:rPr lang="en-US" sz="5722">
                <a:solidFill>
                  <a:srgbClr val="535454"/>
                </a:solidFill>
                <a:latin typeface="Arcade Gamer"/>
                <a:ea typeface="Arcade Gamer"/>
                <a:cs typeface="Arcade Gamer"/>
                <a:sym typeface="Arcade Gamer"/>
              </a:rPr>
              <a:t>label valIdatIon</a:t>
            </a:r>
          </a:p>
        </p:txBody>
      </p:sp>
      <p:sp>
        <p:nvSpPr>
          <p:cNvPr name="TextBox 14" id="14"/>
          <p:cNvSpPr txBox="true"/>
          <p:nvPr/>
        </p:nvSpPr>
        <p:spPr>
          <a:xfrm rot="0">
            <a:off x="3368076" y="2482457"/>
            <a:ext cx="3119948" cy="334686"/>
          </a:xfrm>
          <a:prstGeom prst="rect">
            <a:avLst/>
          </a:prstGeom>
        </p:spPr>
        <p:txBody>
          <a:bodyPr anchor="t" rtlCol="false" tIns="0" lIns="0" bIns="0" rIns="0">
            <a:spAutoFit/>
          </a:bodyPr>
          <a:lstStyle/>
          <a:p>
            <a:pPr algn="ctr">
              <a:lnSpc>
                <a:spcPts val="2349"/>
              </a:lnSpc>
              <a:spcBef>
                <a:spcPct val="0"/>
              </a:spcBef>
            </a:pPr>
            <a:r>
              <a:rPr lang="en-US" sz="2280">
                <a:solidFill>
                  <a:srgbClr val="535454"/>
                </a:solidFill>
                <a:latin typeface="Arcade Gamer"/>
                <a:ea typeface="Arcade Gamer"/>
                <a:cs typeface="Arcade Gamer"/>
                <a:sym typeface="Arcade Gamer"/>
              </a:rPr>
              <a:t>[ codm ]</a:t>
            </a:r>
          </a:p>
        </p:txBody>
      </p:sp>
      <p:sp>
        <p:nvSpPr>
          <p:cNvPr name="Freeform 15" id="15"/>
          <p:cNvSpPr/>
          <p:nvPr/>
        </p:nvSpPr>
        <p:spPr>
          <a:xfrm flipH="false" flipV="false" rot="0">
            <a:off x="9442178" y="3163497"/>
            <a:ext cx="7813270" cy="4658662"/>
          </a:xfrm>
          <a:custGeom>
            <a:avLst/>
            <a:gdLst/>
            <a:ahLst/>
            <a:cxnLst/>
            <a:rect r="r" b="b" t="t" l="l"/>
            <a:pathLst>
              <a:path h="4658662" w="7813270">
                <a:moveTo>
                  <a:pt x="0" y="0"/>
                </a:moveTo>
                <a:lnTo>
                  <a:pt x="7813270" y="0"/>
                </a:lnTo>
                <a:lnTo>
                  <a:pt x="7813270" y="4658662"/>
                </a:lnTo>
                <a:lnTo>
                  <a:pt x="0" y="4658662"/>
                </a:lnTo>
                <a:lnTo>
                  <a:pt x="0" y="0"/>
                </a:lnTo>
                <a:close/>
              </a:path>
            </a:pathLst>
          </a:custGeom>
          <a:blipFill>
            <a:blip r:embed="rId11"/>
            <a:stretch>
              <a:fillRect l="0" t="0" r="0" b="0"/>
            </a:stretch>
          </a:blipFill>
        </p:spPr>
      </p:sp>
      <p:sp>
        <p:nvSpPr>
          <p:cNvPr name="TextBox 16" id="16"/>
          <p:cNvSpPr txBox="true"/>
          <p:nvPr/>
        </p:nvSpPr>
        <p:spPr>
          <a:xfrm rot="0">
            <a:off x="11788839" y="2482457"/>
            <a:ext cx="3119948" cy="334686"/>
          </a:xfrm>
          <a:prstGeom prst="rect">
            <a:avLst/>
          </a:prstGeom>
        </p:spPr>
        <p:txBody>
          <a:bodyPr anchor="t" rtlCol="false" tIns="0" lIns="0" bIns="0" rIns="0">
            <a:spAutoFit/>
          </a:bodyPr>
          <a:lstStyle/>
          <a:p>
            <a:pPr algn="ctr">
              <a:lnSpc>
                <a:spcPts val="2349"/>
              </a:lnSpc>
              <a:spcBef>
                <a:spcPct val="0"/>
              </a:spcBef>
            </a:pPr>
            <a:r>
              <a:rPr lang="en-US" sz="2280">
                <a:solidFill>
                  <a:srgbClr val="535454"/>
                </a:solidFill>
                <a:latin typeface="Arcade Gamer"/>
                <a:ea typeface="Arcade Gamer"/>
                <a:cs typeface="Arcade Gamer"/>
                <a:sym typeface="Arcade Gamer"/>
              </a:rPr>
              <a:t>[ ff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08726"/>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99197" y="7996849"/>
            <a:ext cx="1178951" cy="282023"/>
          </a:xfrm>
          <a:custGeom>
            <a:avLst/>
            <a:gdLst/>
            <a:ahLst/>
            <a:cxnLst/>
            <a:rect r="r" b="b" t="t" l="l"/>
            <a:pathLst>
              <a:path h="282023" w="1178951">
                <a:moveTo>
                  <a:pt x="0" y="0"/>
                </a:moveTo>
                <a:lnTo>
                  <a:pt x="1178951" y="0"/>
                </a:lnTo>
                <a:lnTo>
                  <a:pt x="1178951" y="282023"/>
                </a:lnTo>
                <a:lnTo>
                  <a:pt x="0" y="282023"/>
                </a:lnTo>
                <a:lnTo>
                  <a:pt x="0" y="0"/>
                </a:lnTo>
                <a:close/>
              </a:path>
            </a:pathLst>
          </a:custGeom>
          <a:blipFill>
            <a:blip r:embed="rId6">
              <a:extLst>
                <a:ext uri="{96DAC541-7B7A-43D3-8B79-37D633B846F1}">
                  <asvg:svgBlip xmlns:asvg="http://schemas.microsoft.com/office/drawing/2016/SVG/main" r:embed="rId7"/>
                </a:ext>
              </a:extLst>
            </a:blip>
            <a:stretch>
              <a:fillRect l="0" t="0" r="0" b="-318033"/>
            </a:stretch>
          </a:blipFill>
        </p:spPr>
      </p:sp>
      <p:sp>
        <p:nvSpPr>
          <p:cNvPr name="Freeform 7" id="7"/>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8">
              <a:extLst>
                <a:ext uri="{96DAC541-7B7A-43D3-8B79-37D633B846F1}">
                  <asvg:svgBlip xmlns:asvg="http://schemas.microsoft.com/office/drawing/2016/SVG/main" r:embed="rId9"/>
                </a:ext>
              </a:extLst>
            </a:blip>
            <a:stretch>
              <a:fillRect l="-932" t="0" r="-20604" b="0"/>
            </a:stretch>
          </a:blipFill>
        </p:spPr>
      </p:sp>
      <p:sp>
        <p:nvSpPr>
          <p:cNvPr name="Freeform 8" id="8"/>
          <p:cNvSpPr/>
          <p:nvPr/>
        </p:nvSpPr>
        <p:spPr>
          <a:xfrm flipH="false" flipV="false" rot="0">
            <a:off x="8219856"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8">
              <a:extLst>
                <a:ext uri="{96DAC541-7B7A-43D3-8B79-37D633B846F1}">
                  <asvg:svgBlip xmlns:asvg="http://schemas.microsoft.com/office/drawing/2016/SVG/main" r:embed="rId9"/>
                </a:ext>
              </a:extLst>
            </a:blip>
            <a:stretch>
              <a:fillRect l="-816" t="0" r="-5586" b="0"/>
            </a:stretch>
          </a:blipFill>
        </p:spPr>
      </p:sp>
      <p:sp>
        <p:nvSpPr>
          <p:cNvPr name="Freeform 9" id="9"/>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8">
              <a:extLst>
                <a:ext uri="{96DAC541-7B7A-43D3-8B79-37D633B846F1}">
                  <asvg:svgBlip xmlns:asvg="http://schemas.microsoft.com/office/drawing/2016/SVG/main" r:embed="rId9"/>
                </a:ext>
              </a:extLst>
            </a:blip>
            <a:stretch>
              <a:fillRect l="-816" t="0" r="-5586" b="0"/>
            </a:stretch>
          </a:blipFill>
        </p:spPr>
      </p:sp>
      <p:sp>
        <p:nvSpPr>
          <p:cNvPr name="Freeform 10" id="10"/>
          <p:cNvSpPr/>
          <p:nvPr/>
        </p:nvSpPr>
        <p:spPr>
          <a:xfrm flipH="false" flipV="false" rot="0">
            <a:off x="16069539" y="3377324"/>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6">
              <a:extLst>
                <a:ext uri="{96DAC541-7B7A-43D3-8B79-37D633B846F1}">
                  <asvg:svgBlip xmlns:asvg="http://schemas.microsoft.com/office/drawing/2016/SVG/main" r:embed="rId7"/>
                </a:ext>
              </a:extLst>
            </a:blip>
            <a:stretch>
              <a:fillRect l="0" t="0" r="0" b="-318033"/>
            </a:stretch>
          </a:blipFill>
        </p:spPr>
      </p:sp>
      <p:sp>
        <p:nvSpPr>
          <p:cNvPr name="Freeform 12" id="12"/>
          <p:cNvSpPr/>
          <p:nvPr/>
        </p:nvSpPr>
        <p:spPr>
          <a:xfrm flipH="false" flipV="false" rot="0">
            <a:off x="1028700" y="2866507"/>
            <a:ext cx="7637712" cy="4553986"/>
          </a:xfrm>
          <a:custGeom>
            <a:avLst/>
            <a:gdLst/>
            <a:ahLst/>
            <a:cxnLst/>
            <a:rect r="r" b="b" t="t" l="l"/>
            <a:pathLst>
              <a:path h="4553986" w="7637712">
                <a:moveTo>
                  <a:pt x="0" y="0"/>
                </a:moveTo>
                <a:lnTo>
                  <a:pt x="7637712" y="0"/>
                </a:lnTo>
                <a:lnTo>
                  <a:pt x="7637712" y="4553986"/>
                </a:lnTo>
                <a:lnTo>
                  <a:pt x="0" y="4553986"/>
                </a:lnTo>
                <a:lnTo>
                  <a:pt x="0" y="0"/>
                </a:lnTo>
                <a:close/>
              </a:path>
            </a:pathLst>
          </a:custGeom>
          <a:blipFill>
            <a:blip r:embed="rId10"/>
            <a:stretch>
              <a:fillRect l="0" t="0" r="0" b="0"/>
            </a:stretch>
          </a:blipFill>
        </p:spPr>
      </p:sp>
      <p:sp>
        <p:nvSpPr>
          <p:cNvPr name="TextBox 13" id="13"/>
          <p:cNvSpPr txBox="true"/>
          <p:nvPr/>
        </p:nvSpPr>
        <p:spPr>
          <a:xfrm rot="0">
            <a:off x="5353532" y="421544"/>
            <a:ext cx="7573232" cy="1561831"/>
          </a:xfrm>
          <a:prstGeom prst="rect">
            <a:avLst/>
          </a:prstGeom>
        </p:spPr>
        <p:txBody>
          <a:bodyPr anchor="t" rtlCol="false" tIns="0" lIns="0" bIns="0" rIns="0">
            <a:spAutoFit/>
          </a:bodyPr>
          <a:lstStyle/>
          <a:p>
            <a:pPr algn="ctr">
              <a:lnSpc>
                <a:spcPts val="5894"/>
              </a:lnSpc>
              <a:spcBef>
                <a:spcPct val="0"/>
              </a:spcBef>
            </a:pPr>
            <a:r>
              <a:rPr lang="en-US" sz="5722">
                <a:solidFill>
                  <a:srgbClr val="535454"/>
                </a:solidFill>
                <a:latin typeface="Arcade Gamer"/>
                <a:ea typeface="Arcade Gamer"/>
                <a:cs typeface="Arcade Gamer"/>
                <a:sym typeface="Arcade Gamer"/>
              </a:rPr>
              <a:t>label valIdatIon</a:t>
            </a:r>
          </a:p>
        </p:txBody>
      </p:sp>
      <p:sp>
        <p:nvSpPr>
          <p:cNvPr name="TextBox 14" id="14"/>
          <p:cNvSpPr txBox="true"/>
          <p:nvPr/>
        </p:nvSpPr>
        <p:spPr>
          <a:xfrm rot="0">
            <a:off x="3287582" y="2262360"/>
            <a:ext cx="3119948" cy="334686"/>
          </a:xfrm>
          <a:prstGeom prst="rect">
            <a:avLst/>
          </a:prstGeom>
        </p:spPr>
        <p:txBody>
          <a:bodyPr anchor="t" rtlCol="false" tIns="0" lIns="0" bIns="0" rIns="0">
            <a:spAutoFit/>
          </a:bodyPr>
          <a:lstStyle/>
          <a:p>
            <a:pPr algn="ctr">
              <a:lnSpc>
                <a:spcPts val="2349"/>
              </a:lnSpc>
              <a:spcBef>
                <a:spcPct val="0"/>
              </a:spcBef>
            </a:pPr>
            <a:r>
              <a:rPr lang="en-US" sz="2280">
                <a:solidFill>
                  <a:srgbClr val="535454"/>
                </a:solidFill>
                <a:latin typeface="Arcade Gamer"/>
                <a:ea typeface="Arcade Gamer"/>
                <a:cs typeface="Arcade Gamer"/>
                <a:sym typeface="Arcade Gamer"/>
              </a:rPr>
              <a:t>[ pubg ]</a:t>
            </a:r>
          </a:p>
        </p:txBody>
      </p:sp>
      <p:sp>
        <p:nvSpPr>
          <p:cNvPr name="TextBox 15" id="15"/>
          <p:cNvSpPr txBox="true"/>
          <p:nvPr/>
        </p:nvSpPr>
        <p:spPr>
          <a:xfrm rot="0">
            <a:off x="12100529" y="2262360"/>
            <a:ext cx="3119948" cy="334686"/>
          </a:xfrm>
          <a:prstGeom prst="rect">
            <a:avLst/>
          </a:prstGeom>
        </p:spPr>
        <p:txBody>
          <a:bodyPr anchor="t" rtlCol="false" tIns="0" lIns="0" bIns="0" rIns="0">
            <a:spAutoFit/>
          </a:bodyPr>
          <a:lstStyle/>
          <a:p>
            <a:pPr algn="ctr">
              <a:lnSpc>
                <a:spcPts val="2349"/>
              </a:lnSpc>
              <a:spcBef>
                <a:spcPct val="0"/>
              </a:spcBef>
            </a:pPr>
            <a:r>
              <a:rPr lang="en-US" sz="2280">
                <a:solidFill>
                  <a:srgbClr val="535454"/>
                </a:solidFill>
                <a:latin typeface="Arcade Gamer"/>
                <a:ea typeface="Arcade Gamer"/>
                <a:cs typeface="Arcade Gamer"/>
                <a:sym typeface="Arcade Gamer"/>
              </a:rPr>
              <a:t>[ jumlah data ]</a:t>
            </a:r>
          </a:p>
        </p:txBody>
      </p:sp>
      <p:sp>
        <p:nvSpPr>
          <p:cNvPr name="Freeform 16" id="16"/>
          <p:cNvSpPr/>
          <p:nvPr/>
        </p:nvSpPr>
        <p:spPr>
          <a:xfrm flipH="false" flipV="false" rot="0">
            <a:off x="10121189" y="3416076"/>
            <a:ext cx="7078627" cy="3229420"/>
          </a:xfrm>
          <a:custGeom>
            <a:avLst/>
            <a:gdLst/>
            <a:ahLst/>
            <a:cxnLst/>
            <a:rect r="r" b="b" t="t" l="l"/>
            <a:pathLst>
              <a:path h="3229420" w="7078627">
                <a:moveTo>
                  <a:pt x="0" y="0"/>
                </a:moveTo>
                <a:lnTo>
                  <a:pt x="7078627" y="0"/>
                </a:lnTo>
                <a:lnTo>
                  <a:pt x="7078627" y="3229420"/>
                </a:lnTo>
                <a:lnTo>
                  <a:pt x="0" y="322942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7" id="17"/>
          <p:cNvSpPr txBox="true"/>
          <p:nvPr/>
        </p:nvSpPr>
        <p:spPr>
          <a:xfrm rot="0">
            <a:off x="10197743" y="4822188"/>
            <a:ext cx="6925520" cy="436245"/>
          </a:xfrm>
          <a:prstGeom prst="rect">
            <a:avLst/>
          </a:prstGeom>
        </p:spPr>
        <p:txBody>
          <a:bodyPr anchor="t" rtlCol="false" tIns="0" lIns="0" bIns="0" rIns="0">
            <a:spAutoFit/>
          </a:bodyPr>
          <a:lstStyle/>
          <a:p>
            <a:pPr algn="ctr">
              <a:lnSpc>
                <a:spcPts val="3090"/>
              </a:lnSpc>
              <a:spcBef>
                <a:spcPct val="0"/>
              </a:spcBef>
            </a:pPr>
            <a:r>
              <a:rPr lang="en-US" sz="3000">
                <a:solidFill>
                  <a:srgbClr val="535454"/>
                </a:solidFill>
                <a:latin typeface="Arcade Gamer"/>
                <a:ea typeface="Arcade Gamer"/>
                <a:cs typeface="Arcade Gamer"/>
                <a:sym typeface="Arcade Gamer"/>
              </a:rPr>
              <a:t>9000 data → 5826 data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842292" y="2782141"/>
            <a:ext cx="2980461" cy="839948"/>
          </a:xfrm>
          <a:custGeom>
            <a:avLst/>
            <a:gdLst/>
            <a:ahLst/>
            <a:cxnLst/>
            <a:rect r="r" b="b" t="t" l="l"/>
            <a:pathLst>
              <a:path h="839948" w="2980461">
                <a:moveTo>
                  <a:pt x="0" y="0"/>
                </a:moveTo>
                <a:lnTo>
                  <a:pt x="2980460" y="0"/>
                </a:lnTo>
                <a:lnTo>
                  <a:pt x="2980460"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5567652" y="4057146"/>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1289963" y="2298492"/>
            <a:ext cx="4772162" cy="5029947"/>
          </a:xfrm>
          <a:custGeom>
            <a:avLst/>
            <a:gdLst/>
            <a:ahLst/>
            <a:cxnLst/>
            <a:rect r="r" b="b" t="t" l="l"/>
            <a:pathLst>
              <a:path h="5029947" w="4772162">
                <a:moveTo>
                  <a:pt x="0" y="0"/>
                </a:moveTo>
                <a:lnTo>
                  <a:pt x="4772162" y="0"/>
                </a:lnTo>
                <a:lnTo>
                  <a:pt x="4772162" y="5029946"/>
                </a:lnTo>
                <a:lnTo>
                  <a:pt x="0" y="5029946"/>
                </a:lnTo>
                <a:lnTo>
                  <a:pt x="0" y="0"/>
                </a:lnTo>
                <a:close/>
              </a:path>
            </a:pathLst>
          </a:custGeom>
          <a:blipFill>
            <a:blip r:embed="rId12"/>
            <a:stretch>
              <a:fillRect l="0" t="0" r="0" b="0"/>
            </a:stretch>
          </a:blipFill>
        </p:spPr>
      </p:sp>
      <p:sp>
        <p:nvSpPr>
          <p:cNvPr name="Freeform 16" id="16"/>
          <p:cNvSpPr/>
          <p:nvPr/>
        </p:nvSpPr>
        <p:spPr>
          <a:xfrm flipH="false" flipV="false" rot="0">
            <a:off x="6890800" y="2298492"/>
            <a:ext cx="4772162" cy="5029947"/>
          </a:xfrm>
          <a:custGeom>
            <a:avLst/>
            <a:gdLst/>
            <a:ahLst/>
            <a:cxnLst/>
            <a:rect r="r" b="b" t="t" l="l"/>
            <a:pathLst>
              <a:path h="5029947" w="4772162">
                <a:moveTo>
                  <a:pt x="0" y="0"/>
                </a:moveTo>
                <a:lnTo>
                  <a:pt x="4772162" y="0"/>
                </a:lnTo>
                <a:lnTo>
                  <a:pt x="4772162" y="5029946"/>
                </a:lnTo>
                <a:lnTo>
                  <a:pt x="0" y="5029946"/>
                </a:lnTo>
                <a:lnTo>
                  <a:pt x="0" y="0"/>
                </a:lnTo>
                <a:close/>
              </a:path>
            </a:pathLst>
          </a:custGeom>
          <a:blipFill>
            <a:blip r:embed="rId13"/>
            <a:stretch>
              <a:fillRect l="0" t="0" r="0" b="0"/>
            </a:stretch>
          </a:blipFill>
        </p:spPr>
      </p:sp>
      <p:sp>
        <p:nvSpPr>
          <p:cNvPr name="Freeform 17" id="17"/>
          <p:cNvSpPr/>
          <p:nvPr/>
        </p:nvSpPr>
        <p:spPr>
          <a:xfrm flipH="false" flipV="false" rot="0">
            <a:off x="12491637" y="2298492"/>
            <a:ext cx="4772162" cy="5029947"/>
          </a:xfrm>
          <a:custGeom>
            <a:avLst/>
            <a:gdLst/>
            <a:ahLst/>
            <a:cxnLst/>
            <a:rect r="r" b="b" t="t" l="l"/>
            <a:pathLst>
              <a:path h="5029947" w="4772162">
                <a:moveTo>
                  <a:pt x="0" y="0"/>
                </a:moveTo>
                <a:lnTo>
                  <a:pt x="4772162" y="0"/>
                </a:lnTo>
                <a:lnTo>
                  <a:pt x="4772162" y="5029946"/>
                </a:lnTo>
                <a:lnTo>
                  <a:pt x="0" y="5029946"/>
                </a:lnTo>
                <a:lnTo>
                  <a:pt x="0" y="0"/>
                </a:lnTo>
                <a:close/>
              </a:path>
            </a:pathLst>
          </a:custGeom>
          <a:blipFill>
            <a:blip r:embed="rId14"/>
            <a:stretch>
              <a:fillRect l="0" t="0" r="0" b="0"/>
            </a:stretch>
          </a:blipFill>
        </p:spPr>
      </p:sp>
      <p:sp>
        <p:nvSpPr>
          <p:cNvPr name="TextBox 18" id="18"/>
          <p:cNvSpPr txBox="true"/>
          <p:nvPr/>
        </p:nvSpPr>
        <p:spPr>
          <a:xfrm rot="0">
            <a:off x="5111288" y="1028700"/>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WORDCLOUD</a:t>
            </a:r>
          </a:p>
        </p:txBody>
      </p:sp>
      <p:sp>
        <p:nvSpPr>
          <p:cNvPr name="TextBox 19" id="19"/>
          <p:cNvSpPr txBox="true"/>
          <p:nvPr/>
        </p:nvSpPr>
        <p:spPr>
          <a:xfrm rot="0">
            <a:off x="6704353" y="1745553"/>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CODM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842292" y="2782141"/>
            <a:ext cx="2980461" cy="839948"/>
          </a:xfrm>
          <a:custGeom>
            <a:avLst/>
            <a:gdLst/>
            <a:ahLst/>
            <a:cxnLst/>
            <a:rect r="r" b="b" t="t" l="l"/>
            <a:pathLst>
              <a:path h="839948" w="2980461">
                <a:moveTo>
                  <a:pt x="0" y="0"/>
                </a:moveTo>
                <a:lnTo>
                  <a:pt x="2980460" y="0"/>
                </a:lnTo>
                <a:lnTo>
                  <a:pt x="2980460"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5567652" y="4057146"/>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1028700" y="2193636"/>
            <a:ext cx="4772162" cy="5029947"/>
          </a:xfrm>
          <a:custGeom>
            <a:avLst/>
            <a:gdLst/>
            <a:ahLst/>
            <a:cxnLst/>
            <a:rect r="r" b="b" t="t" l="l"/>
            <a:pathLst>
              <a:path h="5029947" w="4772162">
                <a:moveTo>
                  <a:pt x="0" y="0"/>
                </a:moveTo>
                <a:lnTo>
                  <a:pt x="4772162" y="0"/>
                </a:lnTo>
                <a:lnTo>
                  <a:pt x="4772162" y="5029947"/>
                </a:lnTo>
                <a:lnTo>
                  <a:pt x="0" y="5029947"/>
                </a:lnTo>
                <a:lnTo>
                  <a:pt x="0" y="0"/>
                </a:lnTo>
                <a:close/>
              </a:path>
            </a:pathLst>
          </a:custGeom>
          <a:blipFill>
            <a:blip r:embed="rId12"/>
            <a:stretch>
              <a:fillRect l="0" t="0" r="0" b="0"/>
            </a:stretch>
          </a:blipFill>
        </p:spPr>
      </p:sp>
      <p:sp>
        <p:nvSpPr>
          <p:cNvPr name="Freeform 16" id="16"/>
          <p:cNvSpPr/>
          <p:nvPr/>
        </p:nvSpPr>
        <p:spPr>
          <a:xfrm flipH="false" flipV="false" rot="0">
            <a:off x="6814600" y="2193636"/>
            <a:ext cx="4772162" cy="5029947"/>
          </a:xfrm>
          <a:custGeom>
            <a:avLst/>
            <a:gdLst/>
            <a:ahLst/>
            <a:cxnLst/>
            <a:rect r="r" b="b" t="t" l="l"/>
            <a:pathLst>
              <a:path h="5029947" w="4772162">
                <a:moveTo>
                  <a:pt x="0" y="0"/>
                </a:moveTo>
                <a:lnTo>
                  <a:pt x="4772162" y="0"/>
                </a:lnTo>
                <a:lnTo>
                  <a:pt x="4772162" y="5029947"/>
                </a:lnTo>
                <a:lnTo>
                  <a:pt x="0" y="5029947"/>
                </a:lnTo>
                <a:lnTo>
                  <a:pt x="0" y="0"/>
                </a:lnTo>
                <a:close/>
              </a:path>
            </a:pathLst>
          </a:custGeom>
          <a:blipFill>
            <a:blip r:embed="rId13"/>
            <a:stretch>
              <a:fillRect l="0" t="0" r="0" b="0"/>
            </a:stretch>
          </a:blipFill>
        </p:spPr>
      </p:sp>
      <p:sp>
        <p:nvSpPr>
          <p:cNvPr name="Freeform 17" id="17"/>
          <p:cNvSpPr/>
          <p:nvPr/>
        </p:nvSpPr>
        <p:spPr>
          <a:xfrm flipH="false" flipV="false" rot="0">
            <a:off x="12487138" y="2193636"/>
            <a:ext cx="4772162" cy="5029947"/>
          </a:xfrm>
          <a:custGeom>
            <a:avLst/>
            <a:gdLst/>
            <a:ahLst/>
            <a:cxnLst/>
            <a:rect r="r" b="b" t="t" l="l"/>
            <a:pathLst>
              <a:path h="5029947" w="4772162">
                <a:moveTo>
                  <a:pt x="0" y="0"/>
                </a:moveTo>
                <a:lnTo>
                  <a:pt x="4772162" y="0"/>
                </a:lnTo>
                <a:lnTo>
                  <a:pt x="4772162" y="5029947"/>
                </a:lnTo>
                <a:lnTo>
                  <a:pt x="0" y="5029947"/>
                </a:lnTo>
                <a:lnTo>
                  <a:pt x="0" y="0"/>
                </a:lnTo>
                <a:close/>
              </a:path>
            </a:pathLst>
          </a:custGeom>
          <a:blipFill>
            <a:blip r:embed="rId14"/>
            <a:stretch>
              <a:fillRect l="0" t="0" r="0" b="0"/>
            </a:stretch>
          </a:blipFill>
        </p:spPr>
      </p:sp>
      <p:sp>
        <p:nvSpPr>
          <p:cNvPr name="TextBox 18" id="18"/>
          <p:cNvSpPr txBox="true"/>
          <p:nvPr/>
        </p:nvSpPr>
        <p:spPr>
          <a:xfrm rot="0">
            <a:off x="5111288" y="1029469"/>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WORDCLOUD</a:t>
            </a:r>
          </a:p>
        </p:txBody>
      </p:sp>
      <p:sp>
        <p:nvSpPr>
          <p:cNvPr name="TextBox 19" id="19"/>
          <p:cNvSpPr txBox="true"/>
          <p:nvPr/>
        </p:nvSpPr>
        <p:spPr>
          <a:xfrm rot="0">
            <a:off x="6571473" y="1745553"/>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FF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842292" y="2782141"/>
            <a:ext cx="2980461" cy="839948"/>
          </a:xfrm>
          <a:custGeom>
            <a:avLst/>
            <a:gdLst/>
            <a:ahLst/>
            <a:cxnLst/>
            <a:rect r="r" b="b" t="t" l="l"/>
            <a:pathLst>
              <a:path h="839948" w="2980461">
                <a:moveTo>
                  <a:pt x="0" y="0"/>
                </a:moveTo>
                <a:lnTo>
                  <a:pt x="2980460" y="0"/>
                </a:lnTo>
                <a:lnTo>
                  <a:pt x="2980460"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5567652" y="4057146"/>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1028700" y="2365167"/>
            <a:ext cx="4772162" cy="5029947"/>
          </a:xfrm>
          <a:custGeom>
            <a:avLst/>
            <a:gdLst/>
            <a:ahLst/>
            <a:cxnLst/>
            <a:rect r="r" b="b" t="t" l="l"/>
            <a:pathLst>
              <a:path h="5029947" w="4772162">
                <a:moveTo>
                  <a:pt x="0" y="0"/>
                </a:moveTo>
                <a:lnTo>
                  <a:pt x="4772162" y="0"/>
                </a:lnTo>
                <a:lnTo>
                  <a:pt x="4772162" y="5029946"/>
                </a:lnTo>
                <a:lnTo>
                  <a:pt x="0" y="5029946"/>
                </a:lnTo>
                <a:lnTo>
                  <a:pt x="0" y="0"/>
                </a:lnTo>
                <a:close/>
              </a:path>
            </a:pathLst>
          </a:custGeom>
          <a:blipFill>
            <a:blip r:embed="rId12"/>
            <a:stretch>
              <a:fillRect l="0" t="0" r="0" b="0"/>
            </a:stretch>
          </a:blipFill>
        </p:spPr>
      </p:sp>
      <p:sp>
        <p:nvSpPr>
          <p:cNvPr name="Freeform 16" id="16"/>
          <p:cNvSpPr/>
          <p:nvPr/>
        </p:nvSpPr>
        <p:spPr>
          <a:xfrm flipH="false" flipV="false" rot="0">
            <a:off x="6757919" y="2365167"/>
            <a:ext cx="4772162" cy="5029947"/>
          </a:xfrm>
          <a:custGeom>
            <a:avLst/>
            <a:gdLst/>
            <a:ahLst/>
            <a:cxnLst/>
            <a:rect r="r" b="b" t="t" l="l"/>
            <a:pathLst>
              <a:path h="5029947" w="4772162">
                <a:moveTo>
                  <a:pt x="0" y="0"/>
                </a:moveTo>
                <a:lnTo>
                  <a:pt x="4772162" y="0"/>
                </a:lnTo>
                <a:lnTo>
                  <a:pt x="4772162" y="5029946"/>
                </a:lnTo>
                <a:lnTo>
                  <a:pt x="0" y="5029946"/>
                </a:lnTo>
                <a:lnTo>
                  <a:pt x="0" y="0"/>
                </a:lnTo>
                <a:close/>
              </a:path>
            </a:pathLst>
          </a:custGeom>
          <a:blipFill>
            <a:blip r:embed="rId13"/>
            <a:stretch>
              <a:fillRect l="0" t="0" r="0" b="0"/>
            </a:stretch>
          </a:blipFill>
        </p:spPr>
      </p:sp>
      <p:sp>
        <p:nvSpPr>
          <p:cNvPr name="Freeform 17" id="17"/>
          <p:cNvSpPr/>
          <p:nvPr/>
        </p:nvSpPr>
        <p:spPr>
          <a:xfrm flipH="false" flipV="false" rot="0">
            <a:off x="12487138" y="2365167"/>
            <a:ext cx="4772162" cy="5029947"/>
          </a:xfrm>
          <a:custGeom>
            <a:avLst/>
            <a:gdLst/>
            <a:ahLst/>
            <a:cxnLst/>
            <a:rect r="r" b="b" t="t" l="l"/>
            <a:pathLst>
              <a:path h="5029947" w="4772162">
                <a:moveTo>
                  <a:pt x="0" y="0"/>
                </a:moveTo>
                <a:lnTo>
                  <a:pt x="4772162" y="0"/>
                </a:lnTo>
                <a:lnTo>
                  <a:pt x="4772162" y="5029946"/>
                </a:lnTo>
                <a:lnTo>
                  <a:pt x="0" y="5029946"/>
                </a:lnTo>
                <a:lnTo>
                  <a:pt x="0" y="0"/>
                </a:lnTo>
                <a:close/>
              </a:path>
            </a:pathLst>
          </a:custGeom>
          <a:blipFill>
            <a:blip r:embed="rId14"/>
            <a:stretch>
              <a:fillRect l="0" t="0" r="0" b="0"/>
            </a:stretch>
          </a:blipFill>
        </p:spPr>
      </p:sp>
      <p:sp>
        <p:nvSpPr>
          <p:cNvPr name="TextBox 18" id="18"/>
          <p:cNvSpPr txBox="true"/>
          <p:nvPr/>
        </p:nvSpPr>
        <p:spPr>
          <a:xfrm rot="0">
            <a:off x="5111288" y="1030796"/>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WORDCLOUD</a:t>
            </a:r>
          </a:p>
        </p:txBody>
      </p:sp>
      <p:sp>
        <p:nvSpPr>
          <p:cNvPr name="TextBox 19" id="19"/>
          <p:cNvSpPr txBox="true"/>
          <p:nvPr/>
        </p:nvSpPr>
        <p:spPr>
          <a:xfrm rot="0">
            <a:off x="6571473" y="1728599"/>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PUBG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1028700" y="1706684"/>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4319243" y="4057146"/>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381772" y="2799702"/>
            <a:ext cx="5725795" cy="3320961"/>
          </a:xfrm>
          <a:custGeom>
            <a:avLst/>
            <a:gdLst/>
            <a:ahLst/>
            <a:cxnLst/>
            <a:rect r="r" b="b" t="t" l="l"/>
            <a:pathLst>
              <a:path h="3320961" w="5725795">
                <a:moveTo>
                  <a:pt x="0" y="0"/>
                </a:moveTo>
                <a:lnTo>
                  <a:pt x="5725795" y="0"/>
                </a:lnTo>
                <a:lnTo>
                  <a:pt x="5725795" y="3320961"/>
                </a:lnTo>
                <a:lnTo>
                  <a:pt x="0" y="3320961"/>
                </a:lnTo>
                <a:lnTo>
                  <a:pt x="0" y="0"/>
                </a:lnTo>
                <a:close/>
              </a:path>
            </a:pathLst>
          </a:custGeom>
          <a:blipFill>
            <a:blip r:embed="rId12"/>
            <a:stretch>
              <a:fillRect l="0" t="0" r="0" b="0"/>
            </a:stretch>
          </a:blipFill>
        </p:spPr>
      </p:sp>
      <p:sp>
        <p:nvSpPr>
          <p:cNvPr name="Freeform 16" id="16"/>
          <p:cNvSpPr/>
          <p:nvPr/>
        </p:nvSpPr>
        <p:spPr>
          <a:xfrm flipH="false" flipV="false" rot="0">
            <a:off x="6292886" y="2766222"/>
            <a:ext cx="5719693" cy="3317422"/>
          </a:xfrm>
          <a:custGeom>
            <a:avLst/>
            <a:gdLst/>
            <a:ahLst/>
            <a:cxnLst/>
            <a:rect r="r" b="b" t="t" l="l"/>
            <a:pathLst>
              <a:path h="3317422" w="5719693">
                <a:moveTo>
                  <a:pt x="0" y="0"/>
                </a:moveTo>
                <a:lnTo>
                  <a:pt x="5719694" y="0"/>
                </a:lnTo>
                <a:lnTo>
                  <a:pt x="5719694" y="3317422"/>
                </a:lnTo>
                <a:lnTo>
                  <a:pt x="0" y="3317422"/>
                </a:lnTo>
                <a:lnTo>
                  <a:pt x="0" y="0"/>
                </a:lnTo>
                <a:close/>
              </a:path>
            </a:pathLst>
          </a:custGeom>
          <a:blipFill>
            <a:blip r:embed="rId13"/>
            <a:stretch>
              <a:fillRect l="0" t="0" r="0" b="0"/>
            </a:stretch>
          </a:blipFill>
        </p:spPr>
      </p:sp>
      <p:sp>
        <p:nvSpPr>
          <p:cNvPr name="Freeform 17" id="17"/>
          <p:cNvSpPr/>
          <p:nvPr/>
        </p:nvSpPr>
        <p:spPr>
          <a:xfrm flipH="false" flipV="false" rot="0">
            <a:off x="12193555" y="2766222"/>
            <a:ext cx="5712674" cy="3313351"/>
          </a:xfrm>
          <a:custGeom>
            <a:avLst/>
            <a:gdLst/>
            <a:ahLst/>
            <a:cxnLst/>
            <a:rect r="r" b="b" t="t" l="l"/>
            <a:pathLst>
              <a:path h="3313351" w="5712674">
                <a:moveTo>
                  <a:pt x="0" y="0"/>
                </a:moveTo>
                <a:lnTo>
                  <a:pt x="5712673" y="0"/>
                </a:lnTo>
                <a:lnTo>
                  <a:pt x="5712673" y="3313351"/>
                </a:lnTo>
                <a:lnTo>
                  <a:pt x="0" y="3313351"/>
                </a:lnTo>
                <a:lnTo>
                  <a:pt x="0" y="0"/>
                </a:lnTo>
                <a:close/>
              </a:path>
            </a:pathLst>
          </a:custGeom>
          <a:blipFill>
            <a:blip r:embed="rId14"/>
            <a:stretch>
              <a:fillRect l="0" t="0" r="0" b="0"/>
            </a:stretch>
          </a:blipFill>
        </p:spPr>
      </p:sp>
      <p:sp>
        <p:nvSpPr>
          <p:cNvPr name="TextBox 18" id="18"/>
          <p:cNvSpPr txBox="true"/>
          <p:nvPr/>
        </p:nvSpPr>
        <p:spPr>
          <a:xfrm rot="0">
            <a:off x="5111288" y="1047750"/>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2-GRAM</a:t>
            </a:r>
          </a:p>
        </p:txBody>
      </p:sp>
      <p:sp>
        <p:nvSpPr>
          <p:cNvPr name="TextBox 19" id="19"/>
          <p:cNvSpPr txBox="true"/>
          <p:nvPr/>
        </p:nvSpPr>
        <p:spPr>
          <a:xfrm rot="0">
            <a:off x="6571473" y="1745553"/>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CODM ]</a:t>
            </a:r>
          </a:p>
        </p:txBody>
      </p:sp>
      <p:sp>
        <p:nvSpPr>
          <p:cNvPr name="Freeform 20" id="20"/>
          <p:cNvSpPr/>
          <p:nvPr/>
        </p:nvSpPr>
        <p:spPr>
          <a:xfrm flipH="false" flipV="false" rot="0">
            <a:off x="4651596" y="6512716"/>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1028700" y="357259"/>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1709833" y="1736028"/>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360346" y="2899310"/>
            <a:ext cx="5712142" cy="3334463"/>
          </a:xfrm>
          <a:custGeom>
            <a:avLst/>
            <a:gdLst/>
            <a:ahLst/>
            <a:cxnLst/>
            <a:rect r="r" b="b" t="t" l="l"/>
            <a:pathLst>
              <a:path h="3334463" w="5712142">
                <a:moveTo>
                  <a:pt x="0" y="0"/>
                </a:moveTo>
                <a:lnTo>
                  <a:pt x="5712142" y="0"/>
                </a:lnTo>
                <a:lnTo>
                  <a:pt x="5712142" y="3334463"/>
                </a:lnTo>
                <a:lnTo>
                  <a:pt x="0" y="3334463"/>
                </a:lnTo>
                <a:lnTo>
                  <a:pt x="0" y="0"/>
                </a:lnTo>
                <a:close/>
              </a:path>
            </a:pathLst>
          </a:custGeom>
          <a:blipFill>
            <a:blip r:embed="rId12"/>
            <a:stretch>
              <a:fillRect l="0" t="0" r="0" b="0"/>
            </a:stretch>
          </a:blipFill>
        </p:spPr>
      </p:sp>
      <p:sp>
        <p:nvSpPr>
          <p:cNvPr name="Freeform 16" id="16"/>
          <p:cNvSpPr/>
          <p:nvPr/>
        </p:nvSpPr>
        <p:spPr>
          <a:xfrm flipH="false" flipV="false" rot="0">
            <a:off x="6293896" y="2899310"/>
            <a:ext cx="5700209" cy="3306121"/>
          </a:xfrm>
          <a:custGeom>
            <a:avLst/>
            <a:gdLst/>
            <a:ahLst/>
            <a:cxnLst/>
            <a:rect r="r" b="b" t="t" l="l"/>
            <a:pathLst>
              <a:path h="3306121" w="5700209">
                <a:moveTo>
                  <a:pt x="0" y="0"/>
                </a:moveTo>
                <a:lnTo>
                  <a:pt x="5700208" y="0"/>
                </a:lnTo>
                <a:lnTo>
                  <a:pt x="5700208" y="3306121"/>
                </a:lnTo>
                <a:lnTo>
                  <a:pt x="0" y="3306121"/>
                </a:lnTo>
                <a:lnTo>
                  <a:pt x="0" y="0"/>
                </a:lnTo>
                <a:close/>
              </a:path>
            </a:pathLst>
          </a:custGeom>
          <a:blipFill>
            <a:blip r:embed="rId13"/>
            <a:stretch>
              <a:fillRect l="0" t="0" r="0" b="0"/>
            </a:stretch>
          </a:blipFill>
        </p:spPr>
      </p:sp>
      <p:sp>
        <p:nvSpPr>
          <p:cNvPr name="Freeform 17" id="17"/>
          <p:cNvSpPr/>
          <p:nvPr/>
        </p:nvSpPr>
        <p:spPr>
          <a:xfrm flipH="false" flipV="false" rot="0">
            <a:off x="12256835" y="2887330"/>
            <a:ext cx="5720863" cy="3318100"/>
          </a:xfrm>
          <a:custGeom>
            <a:avLst/>
            <a:gdLst/>
            <a:ahLst/>
            <a:cxnLst/>
            <a:rect r="r" b="b" t="t" l="l"/>
            <a:pathLst>
              <a:path h="3318100" w="5720863">
                <a:moveTo>
                  <a:pt x="0" y="0"/>
                </a:moveTo>
                <a:lnTo>
                  <a:pt x="5720863" y="0"/>
                </a:lnTo>
                <a:lnTo>
                  <a:pt x="5720863" y="3318101"/>
                </a:lnTo>
                <a:lnTo>
                  <a:pt x="0" y="3318101"/>
                </a:lnTo>
                <a:lnTo>
                  <a:pt x="0" y="0"/>
                </a:lnTo>
                <a:close/>
              </a:path>
            </a:pathLst>
          </a:custGeom>
          <a:blipFill>
            <a:blip r:embed="rId14"/>
            <a:stretch>
              <a:fillRect l="0" t="0" r="0" b="0"/>
            </a:stretch>
          </a:blipFill>
        </p:spPr>
      </p:sp>
      <p:sp>
        <p:nvSpPr>
          <p:cNvPr name="TextBox 18" id="18"/>
          <p:cNvSpPr txBox="true"/>
          <p:nvPr/>
        </p:nvSpPr>
        <p:spPr>
          <a:xfrm rot="0">
            <a:off x="5111288" y="1047750"/>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3-GRAM</a:t>
            </a:r>
          </a:p>
        </p:txBody>
      </p:sp>
      <p:sp>
        <p:nvSpPr>
          <p:cNvPr name="TextBox 19" id="19"/>
          <p:cNvSpPr txBox="true"/>
          <p:nvPr/>
        </p:nvSpPr>
        <p:spPr>
          <a:xfrm rot="0">
            <a:off x="6571473" y="1745553"/>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CODM ]</a:t>
            </a:r>
          </a:p>
        </p:txBody>
      </p:sp>
      <p:sp>
        <p:nvSpPr>
          <p:cNvPr name="Freeform 20" id="20"/>
          <p:cNvSpPr/>
          <p:nvPr/>
        </p:nvSpPr>
        <p:spPr>
          <a:xfrm flipH="false" flipV="false" rot="0">
            <a:off x="15706743" y="6512716"/>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796302" y="1891841"/>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1298378" y="160177"/>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8408558" y="6613138"/>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349999" y="2976724"/>
            <a:ext cx="5732835" cy="3325044"/>
          </a:xfrm>
          <a:custGeom>
            <a:avLst/>
            <a:gdLst/>
            <a:ahLst/>
            <a:cxnLst/>
            <a:rect r="r" b="b" t="t" l="l"/>
            <a:pathLst>
              <a:path h="3325044" w="5732835">
                <a:moveTo>
                  <a:pt x="0" y="0"/>
                </a:moveTo>
                <a:lnTo>
                  <a:pt x="5732836" y="0"/>
                </a:lnTo>
                <a:lnTo>
                  <a:pt x="5732836" y="3325044"/>
                </a:lnTo>
                <a:lnTo>
                  <a:pt x="0" y="3325044"/>
                </a:lnTo>
                <a:lnTo>
                  <a:pt x="0" y="0"/>
                </a:lnTo>
                <a:close/>
              </a:path>
            </a:pathLst>
          </a:custGeom>
          <a:blipFill>
            <a:blip r:embed="rId14"/>
            <a:stretch>
              <a:fillRect l="0" t="0" r="0" b="0"/>
            </a:stretch>
          </a:blipFill>
        </p:spPr>
      </p:sp>
      <p:sp>
        <p:nvSpPr>
          <p:cNvPr name="Freeform 17" id="17"/>
          <p:cNvSpPr/>
          <p:nvPr/>
        </p:nvSpPr>
        <p:spPr>
          <a:xfrm flipH="false" flipV="false" rot="0">
            <a:off x="6273061" y="2971479"/>
            <a:ext cx="5741878" cy="3330289"/>
          </a:xfrm>
          <a:custGeom>
            <a:avLst/>
            <a:gdLst/>
            <a:ahLst/>
            <a:cxnLst/>
            <a:rect r="r" b="b" t="t" l="l"/>
            <a:pathLst>
              <a:path h="3330289" w="5741878">
                <a:moveTo>
                  <a:pt x="0" y="0"/>
                </a:moveTo>
                <a:lnTo>
                  <a:pt x="5741878" y="0"/>
                </a:lnTo>
                <a:lnTo>
                  <a:pt x="5741878" y="3330289"/>
                </a:lnTo>
                <a:lnTo>
                  <a:pt x="0" y="3330289"/>
                </a:lnTo>
                <a:lnTo>
                  <a:pt x="0" y="0"/>
                </a:lnTo>
                <a:close/>
              </a:path>
            </a:pathLst>
          </a:custGeom>
          <a:blipFill>
            <a:blip r:embed="rId15"/>
            <a:stretch>
              <a:fillRect l="0" t="0" r="0" b="0"/>
            </a:stretch>
          </a:blipFill>
        </p:spPr>
      </p:sp>
      <p:sp>
        <p:nvSpPr>
          <p:cNvPr name="Freeform 18" id="18"/>
          <p:cNvSpPr/>
          <p:nvPr/>
        </p:nvSpPr>
        <p:spPr>
          <a:xfrm flipH="false" flipV="false" rot="0">
            <a:off x="12205439" y="2980921"/>
            <a:ext cx="5725598" cy="3320847"/>
          </a:xfrm>
          <a:custGeom>
            <a:avLst/>
            <a:gdLst/>
            <a:ahLst/>
            <a:cxnLst/>
            <a:rect r="r" b="b" t="t" l="l"/>
            <a:pathLst>
              <a:path h="3320847" w="5725598">
                <a:moveTo>
                  <a:pt x="0" y="0"/>
                </a:moveTo>
                <a:lnTo>
                  <a:pt x="5725598" y="0"/>
                </a:lnTo>
                <a:lnTo>
                  <a:pt x="5725598" y="3320847"/>
                </a:lnTo>
                <a:lnTo>
                  <a:pt x="0" y="3320847"/>
                </a:lnTo>
                <a:lnTo>
                  <a:pt x="0" y="0"/>
                </a:lnTo>
                <a:close/>
              </a:path>
            </a:pathLst>
          </a:custGeom>
          <a:blipFill>
            <a:blip r:embed="rId16"/>
            <a:stretch>
              <a:fillRect l="0" t="0" r="0" b="0"/>
            </a:stretch>
          </a:blipFill>
        </p:spPr>
      </p:sp>
      <p:sp>
        <p:nvSpPr>
          <p:cNvPr name="TextBox 19" id="19"/>
          <p:cNvSpPr txBox="true"/>
          <p:nvPr/>
        </p:nvSpPr>
        <p:spPr>
          <a:xfrm rot="0">
            <a:off x="5111288" y="1047750"/>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2-GRAM</a:t>
            </a:r>
          </a:p>
        </p:txBody>
      </p:sp>
      <p:sp>
        <p:nvSpPr>
          <p:cNvPr name="TextBox 20" id="20"/>
          <p:cNvSpPr txBox="true"/>
          <p:nvPr/>
        </p:nvSpPr>
        <p:spPr>
          <a:xfrm rot="0">
            <a:off x="6571473" y="1745553"/>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FF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4796008" y="188752"/>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0743644" y="4303552"/>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17259300" y="6613138"/>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352852" y="3062595"/>
            <a:ext cx="5727131" cy="3328895"/>
          </a:xfrm>
          <a:custGeom>
            <a:avLst/>
            <a:gdLst/>
            <a:ahLst/>
            <a:cxnLst/>
            <a:rect r="r" b="b" t="t" l="l"/>
            <a:pathLst>
              <a:path h="3328895" w="5727131">
                <a:moveTo>
                  <a:pt x="0" y="0"/>
                </a:moveTo>
                <a:lnTo>
                  <a:pt x="5727130" y="0"/>
                </a:lnTo>
                <a:lnTo>
                  <a:pt x="5727130" y="3328894"/>
                </a:lnTo>
                <a:lnTo>
                  <a:pt x="0" y="3328894"/>
                </a:lnTo>
                <a:lnTo>
                  <a:pt x="0" y="0"/>
                </a:lnTo>
                <a:close/>
              </a:path>
            </a:pathLst>
          </a:custGeom>
          <a:blipFill>
            <a:blip r:embed="rId14"/>
            <a:stretch>
              <a:fillRect l="0" t="0" r="0" b="0"/>
            </a:stretch>
          </a:blipFill>
        </p:spPr>
      </p:sp>
      <p:sp>
        <p:nvSpPr>
          <p:cNvPr name="Freeform 17" id="17"/>
          <p:cNvSpPr/>
          <p:nvPr/>
        </p:nvSpPr>
        <p:spPr>
          <a:xfrm flipH="false" flipV="false" rot="0">
            <a:off x="6280325" y="3062595"/>
            <a:ext cx="5727349" cy="3321863"/>
          </a:xfrm>
          <a:custGeom>
            <a:avLst/>
            <a:gdLst/>
            <a:ahLst/>
            <a:cxnLst/>
            <a:rect r="r" b="b" t="t" l="l"/>
            <a:pathLst>
              <a:path h="3321863" w="5727349">
                <a:moveTo>
                  <a:pt x="0" y="0"/>
                </a:moveTo>
                <a:lnTo>
                  <a:pt x="5727350" y="0"/>
                </a:lnTo>
                <a:lnTo>
                  <a:pt x="5727350" y="3321862"/>
                </a:lnTo>
                <a:lnTo>
                  <a:pt x="0" y="3321862"/>
                </a:lnTo>
                <a:lnTo>
                  <a:pt x="0" y="0"/>
                </a:lnTo>
                <a:close/>
              </a:path>
            </a:pathLst>
          </a:custGeom>
          <a:blipFill>
            <a:blip r:embed="rId15"/>
            <a:stretch>
              <a:fillRect l="0" t="0" r="0" b="0"/>
            </a:stretch>
          </a:blipFill>
        </p:spPr>
      </p:sp>
      <p:sp>
        <p:nvSpPr>
          <p:cNvPr name="Freeform 18" id="18"/>
          <p:cNvSpPr/>
          <p:nvPr/>
        </p:nvSpPr>
        <p:spPr>
          <a:xfrm flipH="false" flipV="false" rot="0">
            <a:off x="12233875" y="3062595"/>
            <a:ext cx="5711941" cy="3312926"/>
          </a:xfrm>
          <a:custGeom>
            <a:avLst/>
            <a:gdLst/>
            <a:ahLst/>
            <a:cxnLst/>
            <a:rect r="r" b="b" t="t" l="l"/>
            <a:pathLst>
              <a:path h="3312926" w="5711941">
                <a:moveTo>
                  <a:pt x="0" y="0"/>
                </a:moveTo>
                <a:lnTo>
                  <a:pt x="5711941" y="0"/>
                </a:lnTo>
                <a:lnTo>
                  <a:pt x="5711941" y="3312926"/>
                </a:lnTo>
                <a:lnTo>
                  <a:pt x="0" y="3312926"/>
                </a:lnTo>
                <a:lnTo>
                  <a:pt x="0" y="0"/>
                </a:lnTo>
                <a:close/>
              </a:path>
            </a:pathLst>
          </a:custGeom>
          <a:blipFill>
            <a:blip r:embed="rId16"/>
            <a:stretch>
              <a:fillRect l="0" t="0" r="0" b="0"/>
            </a:stretch>
          </a:blipFill>
        </p:spPr>
      </p:sp>
      <p:sp>
        <p:nvSpPr>
          <p:cNvPr name="TextBox 19" id="19"/>
          <p:cNvSpPr txBox="true"/>
          <p:nvPr/>
        </p:nvSpPr>
        <p:spPr>
          <a:xfrm rot="0">
            <a:off x="5111288" y="1210429"/>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3-GRAM</a:t>
            </a:r>
          </a:p>
        </p:txBody>
      </p:sp>
      <p:sp>
        <p:nvSpPr>
          <p:cNvPr name="TextBox 20" id="20"/>
          <p:cNvSpPr txBox="true"/>
          <p:nvPr/>
        </p:nvSpPr>
        <p:spPr>
          <a:xfrm rot="0">
            <a:off x="6571473" y="1908231"/>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FF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4131913" y="188752"/>
            <a:ext cx="2980461" cy="839948"/>
          </a:xfrm>
          <a:custGeom>
            <a:avLst/>
            <a:gdLst/>
            <a:ahLst/>
            <a:cxnLst/>
            <a:rect r="r" b="b" t="t" l="l"/>
            <a:pathLst>
              <a:path h="839948" w="2980461">
                <a:moveTo>
                  <a:pt x="0" y="0"/>
                </a:moveTo>
                <a:lnTo>
                  <a:pt x="2980460" y="0"/>
                </a:lnTo>
                <a:lnTo>
                  <a:pt x="2980460"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0438691" y="2345878"/>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303167" y="3529718"/>
            <a:ext cx="5713011" cy="3313546"/>
          </a:xfrm>
          <a:custGeom>
            <a:avLst/>
            <a:gdLst/>
            <a:ahLst/>
            <a:cxnLst/>
            <a:rect r="r" b="b" t="t" l="l"/>
            <a:pathLst>
              <a:path h="3313546" w="5713011">
                <a:moveTo>
                  <a:pt x="0" y="0"/>
                </a:moveTo>
                <a:lnTo>
                  <a:pt x="5713011" y="0"/>
                </a:lnTo>
                <a:lnTo>
                  <a:pt x="5713011" y="3313547"/>
                </a:lnTo>
                <a:lnTo>
                  <a:pt x="0" y="3313547"/>
                </a:lnTo>
                <a:lnTo>
                  <a:pt x="0" y="0"/>
                </a:lnTo>
                <a:close/>
              </a:path>
            </a:pathLst>
          </a:custGeom>
          <a:blipFill>
            <a:blip r:embed="rId12"/>
            <a:stretch>
              <a:fillRect l="0" t="0" r="0" b="0"/>
            </a:stretch>
          </a:blipFill>
        </p:spPr>
      </p:sp>
      <p:sp>
        <p:nvSpPr>
          <p:cNvPr name="Freeform 16" id="16"/>
          <p:cNvSpPr/>
          <p:nvPr/>
        </p:nvSpPr>
        <p:spPr>
          <a:xfrm flipH="false" flipV="false" rot="0">
            <a:off x="6206678" y="3484049"/>
            <a:ext cx="5722244" cy="3318901"/>
          </a:xfrm>
          <a:custGeom>
            <a:avLst/>
            <a:gdLst/>
            <a:ahLst/>
            <a:cxnLst/>
            <a:rect r="r" b="b" t="t" l="l"/>
            <a:pathLst>
              <a:path h="3318901" w="5722244">
                <a:moveTo>
                  <a:pt x="0" y="0"/>
                </a:moveTo>
                <a:lnTo>
                  <a:pt x="5722244" y="0"/>
                </a:lnTo>
                <a:lnTo>
                  <a:pt x="5722244" y="3318902"/>
                </a:lnTo>
                <a:lnTo>
                  <a:pt x="0" y="3318902"/>
                </a:lnTo>
                <a:lnTo>
                  <a:pt x="0" y="0"/>
                </a:lnTo>
                <a:close/>
              </a:path>
            </a:pathLst>
          </a:custGeom>
          <a:blipFill>
            <a:blip r:embed="rId13"/>
            <a:stretch>
              <a:fillRect l="0" t="0" r="0" b="0"/>
            </a:stretch>
          </a:blipFill>
        </p:spPr>
      </p:sp>
      <p:sp>
        <p:nvSpPr>
          <p:cNvPr name="Freeform 17" id="17"/>
          <p:cNvSpPr/>
          <p:nvPr/>
        </p:nvSpPr>
        <p:spPr>
          <a:xfrm flipH="false" flipV="false" rot="0">
            <a:off x="12119422" y="3525684"/>
            <a:ext cx="5719967" cy="3317581"/>
          </a:xfrm>
          <a:custGeom>
            <a:avLst/>
            <a:gdLst/>
            <a:ahLst/>
            <a:cxnLst/>
            <a:rect r="r" b="b" t="t" l="l"/>
            <a:pathLst>
              <a:path h="3317581" w="5719967">
                <a:moveTo>
                  <a:pt x="0" y="0"/>
                </a:moveTo>
                <a:lnTo>
                  <a:pt x="5719967" y="0"/>
                </a:lnTo>
                <a:lnTo>
                  <a:pt x="5719967" y="3317581"/>
                </a:lnTo>
                <a:lnTo>
                  <a:pt x="0" y="3317581"/>
                </a:lnTo>
                <a:lnTo>
                  <a:pt x="0" y="0"/>
                </a:lnTo>
                <a:close/>
              </a:path>
            </a:pathLst>
          </a:custGeom>
          <a:blipFill>
            <a:blip r:embed="rId14"/>
            <a:stretch>
              <a:fillRect l="0" t="0" r="0" b="0"/>
            </a:stretch>
          </a:blipFill>
        </p:spPr>
      </p:sp>
      <p:sp>
        <p:nvSpPr>
          <p:cNvPr name="TextBox 18" id="18"/>
          <p:cNvSpPr txBox="true"/>
          <p:nvPr/>
        </p:nvSpPr>
        <p:spPr>
          <a:xfrm rot="0">
            <a:off x="5111288" y="1047750"/>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2-GRAM</a:t>
            </a:r>
          </a:p>
        </p:txBody>
      </p:sp>
      <p:sp>
        <p:nvSpPr>
          <p:cNvPr name="TextBox 19" id="19"/>
          <p:cNvSpPr txBox="true"/>
          <p:nvPr/>
        </p:nvSpPr>
        <p:spPr>
          <a:xfrm rot="0">
            <a:off x="6571473" y="1745553"/>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PUBG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1028700"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1028700" y="357259"/>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9490060" y="7566563"/>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1709833" y="1736028"/>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724105" y="7131384"/>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15" id="15"/>
          <p:cNvSpPr/>
          <p:nvPr/>
        </p:nvSpPr>
        <p:spPr>
          <a:xfrm flipH="false" flipV="false" rot="0">
            <a:off x="-1260519" y="6613138"/>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321916" y="3510878"/>
            <a:ext cx="5726198" cy="3328352"/>
          </a:xfrm>
          <a:custGeom>
            <a:avLst/>
            <a:gdLst/>
            <a:ahLst/>
            <a:cxnLst/>
            <a:rect r="r" b="b" t="t" l="l"/>
            <a:pathLst>
              <a:path h="3328352" w="5726198">
                <a:moveTo>
                  <a:pt x="0" y="0"/>
                </a:moveTo>
                <a:lnTo>
                  <a:pt x="5726197" y="0"/>
                </a:lnTo>
                <a:lnTo>
                  <a:pt x="5726197" y="3328352"/>
                </a:lnTo>
                <a:lnTo>
                  <a:pt x="0" y="3328352"/>
                </a:lnTo>
                <a:lnTo>
                  <a:pt x="0" y="0"/>
                </a:lnTo>
                <a:close/>
              </a:path>
            </a:pathLst>
          </a:custGeom>
          <a:blipFill>
            <a:blip r:embed="rId14"/>
            <a:stretch>
              <a:fillRect l="0" t="0" r="0" b="0"/>
            </a:stretch>
          </a:blipFill>
        </p:spPr>
      </p:sp>
      <p:sp>
        <p:nvSpPr>
          <p:cNvPr name="Freeform 17" id="17"/>
          <p:cNvSpPr/>
          <p:nvPr/>
        </p:nvSpPr>
        <p:spPr>
          <a:xfrm flipH="false" flipV="false" rot="0">
            <a:off x="6286238" y="3483701"/>
            <a:ext cx="5727966" cy="3322220"/>
          </a:xfrm>
          <a:custGeom>
            <a:avLst/>
            <a:gdLst/>
            <a:ahLst/>
            <a:cxnLst/>
            <a:rect r="r" b="b" t="t" l="l"/>
            <a:pathLst>
              <a:path h="3322220" w="5727966">
                <a:moveTo>
                  <a:pt x="0" y="0"/>
                </a:moveTo>
                <a:lnTo>
                  <a:pt x="5727967" y="0"/>
                </a:lnTo>
                <a:lnTo>
                  <a:pt x="5727967" y="3322220"/>
                </a:lnTo>
                <a:lnTo>
                  <a:pt x="0" y="3322220"/>
                </a:lnTo>
                <a:lnTo>
                  <a:pt x="0" y="0"/>
                </a:lnTo>
                <a:close/>
              </a:path>
            </a:pathLst>
          </a:custGeom>
          <a:blipFill>
            <a:blip r:embed="rId15"/>
            <a:stretch>
              <a:fillRect l="0" t="0" r="0" b="0"/>
            </a:stretch>
          </a:blipFill>
        </p:spPr>
      </p:sp>
      <p:sp>
        <p:nvSpPr>
          <p:cNvPr name="Freeform 18" id="18"/>
          <p:cNvSpPr/>
          <p:nvPr/>
        </p:nvSpPr>
        <p:spPr>
          <a:xfrm flipH="false" flipV="false" rot="0">
            <a:off x="12255544" y="3483701"/>
            <a:ext cx="5723445" cy="3319598"/>
          </a:xfrm>
          <a:custGeom>
            <a:avLst/>
            <a:gdLst/>
            <a:ahLst/>
            <a:cxnLst/>
            <a:rect r="r" b="b" t="t" l="l"/>
            <a:pathLst>
              <a:path h="3319598" w="5723445">
                <a:moveTo>
                  <a:pt x="0" y="0"/>
                </a:moveTo>
                <a:lnTo>
                  <a:pt x="5723445" y="0"/>
                </a:lnTo>
                <a:lnTo>
                  <a:pt x="5723445" y="3319598"/>
                </a:lnTo>
                <a:lnTo>
                  <a:pt x="0" y="3319598"/>
                </a:lnTo>
                <a:lnTo>
                  <a:pt x="0" y="0"/>
                </a:lnTo>
                <a:close/>
              </a:path>
            </a:pathLst>
          </a:custGeom>
          <a:blipFill>
            <a:blip r:embed="rId16"/>
            <a:stretch>
              <a:fillRect l="0" t="0" r="0" b="0"/>
            </a:stretch>
          </a:blipFill>
        </p:spPr>
      </p:sp>
      <p:sp>
        <p:nvSpPr>
          <p:cNvPr name="TextBox 19" id="19"/>
          <p:cNvSpPr txBox="true"/>
          <p:nvPr/>
        </p:nvSpPr>
        <p:spPr>
          <a:xfrm rot="0">
            <a:off x="5111288" y="1047750"/>
            <a:ext cx="8065425" cy="658934"/>
          </a:xfrm>
          <a:prstGeom prst="rect">
            <a:avLst/>
          </a:prstGeom>
        </p:spPr>
        <p:txBody>
          <a:bodyPr anchor="t" rtlCol="false" tIns="0" lIns="0" bIns="0" rIns="0">
            <a:spAutoFit/>
          </a:bodyPr>
          <a:lstStyle/>
          <a:p>
            <a:pPr algn="ctr">
              <a:lnSpc>
                <a:spcPts val="4625"/>
              </a:lnSpc>
              <a:spcBef>
                <a:spcPct val="0"/>
              </a:spcBef>
            </a:pPr>
            <a:r>
              <a:rPr lang="en-US" sz="4490">
                <a:solidFill>
                  <a:srgbClr val="535454"/>
                </a:solidFill>
                <a:latin typeface="Arcade Gamer"/>
                <a:ea typeface="Arcade Gamer"/>
                <a:cs typeface="Arcade Gamer"/>
                <a:sym typeface="Arcade Gamer"/>
              </a:rPr>
              <a:t>3-GRAM</a:t>
            </a:r>
          </a:p>
        </p:txBody>
      </p:sp>
      <p:sp>
        <p:nvSpPr>
          <p:cNvPr name="TextBox 20" id="20"/>
          <p:cNvSpPr txBox="true"/>
          <p:nvPr/>
        </p:nvSpPr>
        <p:spPr>
          <a:xfrm rot="0">
            <a:off x="6571473" y="1745553"/>
            <a:ext cx="4992655" cy="302102"/>
          </a:xfrm>
          <a:prstGeom prst="rect">
            <a:avLst/>
          </a:prstGeom>
        </p:spPr>
        <p:txBody>
          <a:bodyPr anchor="t" rtlCol="false" tIns="0" lIns="0" bIns="0" rIns="0">
            <a:spAutoFit/>
          </a:bodyPr>
          <a:lstStyle/>
          <a:p>
            <a:pPr algn="ctr">
              <a:lnSpc>
                <a:spcPts val="2143"/>
              </a:lnSpc>
              <a:spcBef>
                <a:spcPct val="0"/>
              </a:spcBef>
            </a:pPr>
            <a:r>
              <a:rPr lang="en-US" sz="2080">
                <a:solidFill>
                  <a:srgbClr val="535454"/>
                </a:solidFill>
                <a:latin typeface="Arcade Gamer"/>
                <a:ea typeface="Arcade Gamer"/>
                <a:cs typeface="Arcade Gamer"/>
                <a:sym typeface="Arcade Gamer"/>
              </a:rPr>
              <a:t>[ PUBG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3" id="3"/>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2">
              <a:extLst>
                <a:ext uri="{96DAC541-7B7A-43D3-8B79-37D633B846F1}">
                  <asvg:svgBlip xmlns:asvg="http://schemas.microsoft.com/office/drawing/2016/SVG/main" r:embed="rId3"/>
                </a:ext>
              </a:extLst>
            </a:blip>
            <a:stretch>
              <a:fillRect l="-326" t="-20627" r="0" b="-137943"/>
            </a:stretch>
          </a:blipFill>
        </p:spPr>
      </p:sp>
      <p:sp>
        <p:nvSpPr>
          <p:cNvPr name="Freeform 4" id="4"/>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2">
              <a:extLst>
                <a:ext uri="{96DAC541-7B7A-43D3-8B79-37D633B846F1}">
                  <asvg:svgBlip xmlns:asvg="http://schemas.microsoft.com/office/drawing/2016/SVG/main" r:embed="rId3"/>
                </a:ext>
              </a:extLst>
            </a:blip>
            <a:stretch>
              <a:fillRect l="-1664" t="0" r="0" b="-114354"/>
            </a:stretch>
          </a:blipFill>
        </p:spPr>
      </p:sp>
      <p:sp>
        <p:nvSpPr>
          <p:cNvPr name="Freeform 5" id="5"/>
          <p:cNvSpPr/>
          <p:nvPr/>
        </p:nvSpPr>
        <p:spPr>
          <a:xfrm flipH="false" flipV="false" rot="0">
            <a:off x="99514" y="6751164"/>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6" id="6"/>
          <p:cNvSpPr/>
          <p:nvPr/>
        </p:nvSpPr>
        <p:spPr>
          <a:xfrm flipH="false" flipV="false" rot="0">
            <a:off x="838064" y="2024270"/>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sp>
        <p:nvSpPr>
          <p:cNvPr name="Freeform 8" id="8"/>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932" t="0" r="-20604" b="0"/>
            </a:stretch>
          </a:blipFill>
        </p:spPr>
      </p:sp>
      <p:sp>
        <p:nvSpPr>
          <p:cNvPr name="Freeform 9" id="9"/>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0" id="10"/>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0">
              <a:extLst>
                <a:ext uri="{96DAC541-7B7A-43D3-8B79-37D633B846F1}">
                  <asvg:svgBlip xmlns:asvg="http://schemas.microsoft.com/office/drawing/2016/SVG/main" r:embed="rId11"/>
                </a:ext>
              </a:extLst>
            </a:blip>
            <a:stretch>
              <a:fillRect l="-816" t="0" r="-5586" b="0"/>
            </a:stretch>
          </a:blipFill>
        </p:spPr>
      </p:sp>
      <p:sp>
        <p:nvSpPr>
          <p:cNvPr name="Freeform 11" id="11"/>
          <p:cNvSpPr/>
          <p:nvPr/>
        </p:nvSpPr>
        <p:spPr>
          <a:xfrm flipH="false" flipV="false" rot="0">
            <a:off x="648448" y="7846192"/>
            <a:ext cx="380252" cy="865360"/>
          </a:xfrm>
          <a:custGeom>
            <a:avLst/>
            <a:gdLst/>
            <a:ahLst/>
            <a:cxnLst/>
            <a:rect r="r" b="b" t="t" l="l"/>
            <a:pathLst>
              <a:path h="865360" w="380252">
                <a:moveTo>
                  <a:pt x="0" y="0"/>
                </a:moveTo>
                <a:lnTo>
                  <a:pt x="380252" y="0"/>
                </a:lnTo>
                <a:lnTo>
                  <a:pt x="380252" y="865360"/>
                </a:lnTo>
                <a:lnTo>
                  <a:pt x="0" y="865360"/>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2" id="12"/>
          <p:cNvSpPr/>
          <p:nvPr/>
        </p:nvSpPr>
        <p:spPr>
          <a:xfrm flipH="false" flipV="false" rot="0">
            <a:off x="14664616" y="1604296"/>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7367710" y="7214973"/>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4">
              <a:extLst>
                <a:ext uri="{96DAC541-7B7A-43D3-8B79-37D633B846F1}">
                  <asvg:svgBlip xmlns:asvg="http://schemas.microsoft.com/office/drawing/2016/SVG/main" r:embed="rId5"/>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8">
              <a:extLst>
                <a:ext uri="{96DAC541-7B7A-43D3-8B79-37D633B846F1}">
                  <asvg:svgBlip xmlns:asvg="http://schemas.microsoft.com/office/drawing/2016/SVG/main" r:embed="rId9"/>
                </a:ext>
              </a:extLst>
            </a:blip>
            <a:stretch>
              <a:fillRect l="0" t="0" r="0" b="-318033"/>
            </a:stretch>
          </a:blipFill>
        </p:spPr>
      </p:sp>
      <p:graphicFrame>
        <p:nvGraphicFramePr>
          <p:cNvPr name="Table 15" id="15"/>
          <p:cNvGraphicFramePr>
            <a:graphicFrameLocks noGrp="true"/>
          </p:cNvGraphicFramePr>
          <p:nvPr/>
        </p:nvGraphicFramePr>
        <p:xfrm>
          <a:off x="3390618" y="2387998"/>
          <a:ext cx="11506765" cy="5608851"/>
        </p:xfrm>
        <a:graphic>
          <a:graphicData uri="http://schemas.openxmlformats.org/drawingml/2006/table">
            <a:tbl>
              <a:tblPr/>
              <a:tblGrid>
                <a:gridCol w="2144465"/>
                <a:gridCol w="3157499"/>
                <a:gridCol w="3158488"/>
                <a:gridCol w="3046313"/>
              </a:tblGrid>
              <a:tr h="920654">
                <a:tc>
                  <a:txBody>
                    <a:bodyPr anchor="t" rtlCol="false"/>
                    <a:lstStyle/>
                    <a:p>
                      <a:pPr algn="ctr">
                        <a:lnSpc>
                          <a:spcPts val="2913"/>
                        </a:lnSpc>
                        <a:defRPr/>
                      </a:pP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2913"/>
                        </a:lnSpc>
                        <a:defRPr/>
                      </a:pPr>
                      <a:r>
                        <a:rPr lang="en-US" sz="2080">
                          <a:solidFill>
                            <a:srgbClr val="000000"/>
                          </a:solidFill>
                          <a:latin typeface="Arcade Gamer"/>
                          <a:ea typeface="Arcade Gamer"/>
                          <a:cs typeface="Arcade Gamer"/>
                          <a:sym typeface="Arcade Gamer"/>
                        </a:rPr>
                        <a:t>codm</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2913"/>
                        </a:lnSpc>
                        <a:defRPr/>
                      </a:pPr>
                      <a:r>
                        <a:rPr lang="en-US" sz="2080">
                          <a:solidFill>
                            <a:srgbClr val="000000"/>
                          </a:solidFill>
                          <a:latin typeface="Arcade Gamer"/>
                          <a:ea typeface="Arcade Gamer"/>
                          <a:cs typeface="Arcade Gamer"/>
                          <a:sym typeface="Arcade Gamer"/>
                        </a:rPr>
                        <a:t>ff</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2913"/>
                        </a:lnSpc>
                        <a:defRPr/>
                      </a:pPr>
                      <a:r>
                        <a:rPr lang="en-US" sz="2080">
                          <a:solidFill>
                            <a:srgbClr val="000000"/>
                          </a:solidFill>
                          <a:latin typeface="Arcade Gamer"/>
                          <a:ea typeface="Arcade Gamer"/>
                          <a:cs typeface="Arcade Gamer"/>
                          <a:sym typeface="Arcade Gamer"/>
                        </a:rPr>
                        <a:t>pubg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1562732">
                <a:tc>
                  <a:txBody>
                    <a:bodyPr anchor="t" rtlCol="false"/>
                    <a:lstStyle/>
                    <a:p>
                      <a:pPr algn="ctr">
                        <a:lnSpc>
                          <a:spcPts val="2913"/>
                        </a:lnSpc>
                        <a:defRPr/>
                      </a:pPr>
                      <a:r>
                        <a:rPr lang="en-US" sz="2080">
                          <a:solidFill>
                            <a:srgbClr val="000000"/>
                          </a:solidFill>
                          <a:latin typeface="Arcade Gamer"/>
                          <a:ea typeface="Arcade Gamer"/>
                          <a:cs typeface="Arcade Gamer"/>
                          <a:sym typeface="Arcade Gamer"/>
                        </a:rPr>
                        <a:t>posItIve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gridSpan="3">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POSITIF YANG DOMINAN UNTUK KETIGA GAME CENDERUNG SAMA YAITU 'BAGUS', 'SERU', 'SUKA', 'KEREN', YANG MENUNJUKKAN BAHWA PENGGUNA MERASAKAN KEPUASAN DARI BERMAIN KETIGA GAME TERSEBUT </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hMerge="true">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POSITIF YANG DOMINAN UNTUK KETIGA GAME CENDERUNG SAMA YAITU 'BAGUS', 'SERU', 'SUKA', 'KEREN', YANG MENUNJUKKAN BAHWA PENGGUNA MERASAKAN KEPUASAN DARI BERMAIN KETIGA GAME TERSEBUT </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hMerge="true">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POSITIF YANG DOMINAN UNTUK KETIGA GAME CENDERUNG SAMA YAITU 'BAGUS', 'SERU', 'SUKA', 'KEREN', YANG MENUNJUKKAN BAHWA PENGGUNA MERASAKAN KEPUASAN DARI BERMAIN KETIGA GAME TERSEBUT </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562732">
                <a:tc>
                  <a:txBody>
                    <a:bodyPr anchor="t" rtlCol="false"/>
                    <a:lstStyle/>
                    <a:p>
                      <a:pPr algn="ctr">
                        <a:lnSpc>
                          <a:spcPts val="2913"/>
                        </a:lnSpc>
                        <a:defRPr/>
                      </a:pPr>
                      <a:r>
                        <a:rPr lang="en-US" sz="2080">
                          <a:solidFill>
                            <a:srgbClr val="000000"/>
                          </a:solidFill>
                          <a:latin typeface="Arcade Gamer"/>
                          <a:ea typeface="Arcade Gamer"/>
                          <a:cs typeface="Arcade Gamer"/>
                          <a:sym typeface="Arcade Gamer"/>
                        </a:rPr>
                        <a:t>negatIve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gridSpan="3">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NEGATIF DIDOMINASI OLEH KATA 'UPDATE', 'BUG', 'BURIK', KETIGA GAME MEMILIKI PERMASALAHAN YANG SAMA YANG DIRASAKAN OLEH PENGGUNA YAITU MASALAH BANYAKNYA BUG DI DALAM GAME TERSEBUT YANG MERUGIKAN PENGGUNA</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hMerge="true">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NEGATIF DIDOMINASI OLEH KATA 'UPDATE', 'BUG', 'BURIK', KETIGA GAME MEMILIKI PERMASALAHAN YANG SAMA YANG DIRASAKAN OLEH PENGGUNA YAITU MASALAH BANYAKNYA BUG DI DALAM GAME TERSEBUT YANG MERUGIKAN PENGGUNA</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hMerge="true">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NEGATIF DIDOMINASI OLEH KATA 'UPDATE', 'BUG', 'BURIK', KETIGA GAME MEMILIKI PERMASALAHAN YANG SAMA YANG DIRASAKAN OLEH PENGGUNA YAITU MASALAH BANYAKNYA BUG DI DALAM GAME TERSEBUT YANG MERUGIKAN PENGGUNA</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562732">
                <a:tc>
                  <a:txBody>
                    <a:bodyPr anchor="t" rtlCol="false"/>
                    <a:lstStyle/>
                    <a:p>
                      <a:pPr algn="ctr">
                        <a:lnSpc>
                          <a:spcPts val="2913"/>
                        </a:lnSpc>
                        <a:defRPr/>
                      </a:pPr>
                      <a:r>
                        <a:rPr lang="en-US" sz="2080">
                          <a:solidFill>
                            <a:srgbClr val="000000"/>
                          </a:solidFill>
                          <a:latin typeface="Arcade Gamer"/>
                          <a:ea typeface="Arcade Gamer"/>
                          <a:cs typeface="Arcade Gamer"/>
                          <a:sym typeface="Arcade Gamer"/>
                        </a:rPr>
                        <a:t>neutral</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gridSpan="3">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NETRAL YANG SERING MUNCUL ADALAH KATA 'UPDATE', 'DOWNLOAD', 'KENAPA', PENGGUNA DARI KETIGA GAME TERSEBUT SERING MEMPERTANYAKAN MENGENAI UPDATE DARI GAME DAN PERMASALAHAN FITUR DOWNLOAD DI DALAM GAME YANG DIRASA MERESAHKAN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hMerge="true">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NETRAL YANG SERING MUNCUL ADALAH KATA 'UPDATE', 'DOWNLOAD', 'KENAPA', PENGGUNA DARI KETIGA GAME TERSEBUT SERING MEMPERTANYAKAN MENGENAI UPDATE DARI GAME DAN PERMASALAHAN FITUR DOWNLOAD DI DALAM GAME YANG DIRASA MERESAHKAN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hMerge="true">
                  <a:txBody>
                    <a:bodyPr anchor="t" rtlCol="false"/>
                    <a:lstStyle/>
                    <a:p>
                      <a:pPr algn="just">
                        <a:lnSpc>
                          <a:spcPts val="1679"/>
                        </a:lnSpc>
                        <a:defRPr/>
                      </a:pPr>
                      <a:r>
                        <a:rPr lang="en-US" sz="1200">
                          <a:solidFill>
                            <a:srgbClr val="000000"/>
                          </a:solidFill>
                          <a:latin typeface="Arcade Gamer"/>
                          <a:ea typeface="Arcade Gamer"/>
                          <a:cs typeface="Arcade Gamer"/>
                          <a:sym typeface="Arcade Gamer"/>
                        </a:rPr>
                        <a:t>KATA NETRAL YANG SERING MUNCUL ADALAH KATA 'UPDATE', 'DOWNLOAD', 'KENAPA', PENGGUNA DARI KETIGA GAME TERSEBUT SERING MEMPERTANYAKAN MENGENAI UPDATE DARI GAME DAN PERMASALAHAN FITUR DOWNLOAD DI DALAM GAME YANG DIRASA MERESAHKAN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
        <p:nvSpPr>
          <p:cNvPr name="TextBox 16" id="16"/>
          <p:cNvSpPr txBox="true"/>
          <p:nvPr/>
        </p:nvSpPr>
        <p:spPr>
          <a:xfrm rot="0">
            <a:off x="5357384" y="1218668"/>
            <a:ext cx="7573232" cy="818881"/>
          </a:xfrm>
          <a:prstGeom prst="rect">
            <a:avLst/>
          </a:prstGeom>
        </p:spPr>
        <p:txBody>
          <a:bodyPr anchor="t" rtlCol="false" tIns="0" lIns="0" bIns="0" rIns="0">
            <a:spAutoFit/>
          </a:bodyPr>
          <a:lstStyle/>
          <a:p>
            <a:pPr algn="ctr">
              <a:lnSpc>
                <a:spcPts val="5894"/>
              </a:lnSpc>
              <a:spcBef>
                <a:spcPct val="0"/>
              </a:spcBef>
            </a:pPr>
            <a:r>
              <a:rPr lang="en-US" sz="5722">
                <a:solidFill>
                  <a:srgbClr val="535454"/>
                </a:solidFill>
                <a:latin typeface="Arcade Gamer"/>
                <a:ea typeface="Arcade Gamer"/>
                <a:cs typeface="Arcade Gamer"/>
                <a:sym typeface="Arcade Gamer"/>
              </a:rPr>
              <a:t>summary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2713534" y="6186202"/>
            <a:ext cx="2163004" cy="2333787"/>
          </a:xfrm>
          <a:custGeom>
            <a:avLst/>
            <a:gdLst/>
            <a:ahLst/>
            <a:cxnLst/>
            <a:rect r="r" b="b" t="t" l="l"/>
            <a:pathLst>
              <a:path h="2333787" w="2163004">
                <a:moveTo>
                  <a:pt x="0" y="0"/>
                </a:moveTo>
                <a:lnTo>
                  <a:pt x="2163004" y="0"/>
                </a:lnTo>
                <a:lnTo>
                  <a:pt x="2163004" y="2333787"/>
                </a:lnTo>
                <a:lnTo>
                  <a:pt x="0" y="2333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302873" y="8393823"/>
            <a:ext cx="7195413" cy="515002"/>
          </a:xfrm>
          <a:custGeom>
            <a:avLst/>
            <a:gdLst/>
            <a:ahLst/>
            <a:cxnLst/>
            <a:rect r="r" b="b" t="t" l="l"/>
            <a:pathLst>
              <a:path h="515002" w="7195413">
                <a:moveTo>
                  <a:pt x="0" y="0"/>
                </a:moveTo>
                <a:lnTo>
                  <a:pt x="7195413" y="0"/>
                </a:lnTo>
                <a:lnTo>
                  <a:pt x="7195413" y="515002"/>
                </a:lnTo>
                <a:lnTo>
                  <a:pt x="0" y="515002"/>
                </a:lnTo>
                <a:lnTo>
                  <a:pt x="0" y="0"/>
                </a:lnTo>
                <a:close/>
              </a:path>
            </a:pathLst>
          </a:custGeom>
          <a:blipFill>
            <a:blip r:embed="rId4">
              <a:extLst>
                <a:ext uri="{96DAC541-7B7A-43D3-8B79-37D633B846F1}">
                  <asvg:svgBlip xmlns:asvg="http://schemas.microsoft.com/office/drawing/2016/SVG/main" r:embed="rId5"/>
                </a:ext>
              </a:extLst>
            </a:blip>
            <a:stretch>
              <a:fillRect l="-1664" t="0" r="0" b="-114354"/>
            </a:stretch>
          </a:blipFill>
        </p:spPr>
      </p:sp>
      <p:sp>
        <p:nvSpPr>
          <p:cNvPr name="Freeform 4" id="4"/>
          <p:cNvSpPr/>
          <p:nvPr/>
        </p:nvSpPr>
        <p:spPr>
          <a:xfrm flipH="false" flipV="false" rot="0">
            <a:off x="-179017" y="8519989"/>
            <a:ext cx="7291391" cy="426936"/>
          </a:xfrm>
          <a:custGeom>
            <a:avLst/>
            <a:gdLst/>
            <a:ahLst/>
            <a:cxnLst/>
            <a:rect r="r" b="b" t="t" l="l"/>
            <a:pathLst>
              <a:path h="426936" w="7291391">
                <a:moveTo>
                  <a:pt x="0" y="0"/>
                </a:moveTo>
                <a:lnTo>
                  <a:pt x="7291390" y="0"/>
                </a:lnTo>
                <a:lnTo>
                  <a:pt x="7291390" y="426936"/>
                </a:lnTo>
                <a:lnTo>
                  <a:pt x="0" y="426936"/>
                </a:lnTo>
                <a:lnTo>
                  <a:pt x="0" y="0"/>
                </a:lnTo>
                <a:close/>
              </a:path>
            </a:pathLst>
          </a:custGeom>
          <a:blipFill>
            <a:blip r:embed="rId4">
              <a:extLst>
                <a:ext uri="{96DAC541-7B7A-43D3-8B79-37D633B846F1}">
                  <asvg:svgBlip xmlns:asvg="http://schemas.microsoft.com/office/drawing/2016/SVG/main" r:embed="rId5"/>
                </a:ext>
              </a:extLst>
            </a:blip>
            <a:stretch>
              <a:fillRect l="-326" t="-20627" r="0" b="-137943"/>
            </a:stretch>
          </a:blipFill>
        </p:spPr>
      </p:sp>
      <p:sp>
        <p:nvSpPr>
          <p:cNvPr name="Freeform 5" id="5"/>
          <p:cNvSpPr/>
          <p:nvPr/>
        </p:nvSpPr>
        <p:spPr>
          <a:xfrm flipH="false" flipV="false" rot="0">
            <a:off x="14690294" y="8431923"/>
            <a:ext cx="7195413" cy="515002"/>
          </a:xfrm>
          <a:custGeom>
            <a:avLst/>
            <a:gdLst/>
            <a:ahLst/>
            <a:cxnLst/>
            <a:rect r="r" b="b" t="t" l="l"/>
            <a:pathLst>
              <a:path h="515002" w="7195413">
                <a:moveTo>
                  <a:pt x="0" y="0"/>
                </a:moveTo>
                <a:lnTo>
                  <a:pt x="7195412" y="0"/>
                </a:lnTo>
                <a:lnTo>
                  <a:pt x="7195412" y="515002"/>
                </a:lnTo>
                <a:lnTo>
                  <a:pt x="0" y="515002"/>
                </a:lnTo>
                <a:lnTo>
                  <a:pt x="0" y="0"/>
                </a:lnTo>
                <a:close/>
              </a:path>
            </a:pathLst>
          </a:custGeom>
          <a:blipFill>
            <a:blip r:embed="rId4">
              <a:extLst>
                <a:ext uri="{96DAC541-7B7A-43D3-8B79-37D633B846F1}">
                  <asvg:svgBlip xmlns:asvg="http://schemas.microsoft.com/office/drawing/2016/SVG/main" r:embed="rId5"/>
                </a:ext>
              </a:extLst>
            </a:blip>
            <a:stretch>
              <a:fillRect l="-1664" t="0" r="0" b="-114354"/>
            </a:stretch>
          </a:blipFill>
        </p:spPr>
      </p:sp>
      <p:sp>
        <p:nvSpPr>
          <p:cNvPr name="Freeform 6" id="6"/>
          <p:cNvSpPr/>
          <p:nvPr/>
        </p:nvSpPr>
        <p:spPr>
          <a:xfrm flipH="false" flipV="false" rot="0">
            <a:off x="15559966" y="6839230"/>
            <a:ext cx="738550" cy="1680759"/>
          </a:xfrm>
          <a:custGeom>
            <a:avLst/>
            <a:gdLst/>
            <a:ahLst/>
            <a:cxnLst/>
            <a:rect r="r" b="b" t="t" l="l"/>
            <a:pathLst>
              <a:path h="1680759" w="738550">
                <a:moveTo>
                  <a:pt x="0" y="0"/>
                </a:moveTo>
                <a:lnTo>
                  <a:pt x="738551" y="0"/>
                </a:lnTo>
                <a:lnTo>
                  <a:pt x="738551" y="1680759"/>
                </a:lnTo>
                <a:lnTo>
                  <a:pt x="0" y="1680759"/>
                </a:lnTo>
                <a:lnTo>
                  <a:pt x="0" y="0"/>
                </a:lnTo>
                <a:close/>
              </a:path>
            </a:pathLst>
          </a:custGeom>
          <a:blipFill>
            <a:blip r:embed="rId6">
              <a:extLst>
                <a:ext uri="{96DAC541-7B7A-43D3-8B79-37D633B846F1}">
                  <asvg:svgBlip xmlns:asvg="http://schemas.microsoft.com/office/drawing/2016/SVG/main" r:embed="rId7"/>
                </a:ext>
              </a:extLst>
            </a:blip>
            <a:stretch>
              <a:fillRect l="0" t="0" r="0" b="-3281"/>
            </a:stretch>
          </a:blipFill>
        </p:spPr>
      </p:sp>
      <p:sp>
        <p:nvSpPr>
          <p:cNvPr name="Freeform 7" id="7"/>
          <p:cNvSpPr/>
          <p:nvPr/>
        </p:nvSpPr>
        <p:spPr>
          <a:xfrm flipH="false" flipV="false" rot="0">
            <a:off x="1306067" y="2141100"/>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527791" y="797779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10">
              <a:extLst>
                <a:ext uri="{96DAC541-7B7A-43D3-8B79-37D633B846F1}">
                  <asvg:svgBlip xmlns:asvg="http://schemas.microsoft.com/office/drawing/2016/SVG/main" r:embed="rId11"/>
                </a:ext>
              </a:extLst>
            </a:blip>
            <a:stretch>
              <a:fillRect l="0" t="0" r="0" b="-318033"/>
            </a:stretch>
          </a:blipFill>
        </p:spPr>
      </p:sp>
      <p:sp>
        <p:nvSpPr>
          <p:cNvPr name="Freeform 9" id="9"/>
          <p:cNvSpPr/>
          <p:nvPr/>
        </p:nvSpPr>
        <p:spPr>
          <a:xfrm flipH="false" flipV="false" rot="0">
            <a:off x="0" y="8078196"/>
            <a:ext cx="6432834" cy="344202"/>
          </a:xfrm>
          <a:custGeom>
            <a:avLst/>
            <a:gdLst/>
            <a:ahLst/>
            <a:cxnLst/>
            <a:rect r="r" b="b" t="t" l="l"/>
            <a:pathLst>
              <a:path h="344202" w="6432834">
                <a:moveTo>
                  <a:pt x="0" y="0"/>
                </a:moveTo>
                <a:lnTo>
                  <a:pt x="6432834" y="0"/>
                </a:lnTo>
                <a:lnTo>
                  <a:pt x="6432834"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932" t="0" r="-20604" b="0"/>
            </a:stretch>
          </a:blipFill>
        </p:spPr>
      </p:sp>
      <p:sp>
        <p:nvSpPr>
          <p:cNvPr name="Freeform 10" id="10"/>
          <p:cNvSpPr/>
          <p:nvPr/>
        </p:nvSpPr>
        <p:spPr>
          <a:xfrm flipH="false" flipV="false" rot="0">
            <a:off x="7316820" y="8078196"/>
            <a:ext cx="7347797" cy="344202"/>
          </a:xfrm>
          <a:custGeom>
            <a:avLst/>
            <a:gdLst/>
            <a:ahLst/>
            <a:cxnLst/>
            <a:rect r="r" b="b" t="t" l="l"/>
            <a:pathLst>
              <a:path h="344202" w="7347797">
                <a:moveTo>
                  <a:pt x="0" y="0"/>
                </a:moveTo>
                <a:lnTo>
                  <a:pt x="7347796" y="0"/>
                </a:lnTo>
                <a:lnTo>
                  <a:pt x="7347796"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1" id="11"/>
          <p:cNvSpPr/>
          <p:nvPr/>
        </p:nvSpPr>
        <p:spPr>
          <a:xfrm flipH="false" flipV="false" rot="0">
            <a:off x="15567652" y="8078196"/>
            <a:ext cx="7347797" cy="344202"/>
          </a:xfrm>
          <a:custGeom>
            <a:avLst/>
            <a:gdLst/>
            <a:ahLst/>
            <a:cxnLst/>
            <a:rect r="r" b="b" t="t" l="l"/>
            <a:pathLst>
              <a:path h="344202" w="7347797">
                <a:moveTo>
                  <a:pt x="0" y="0"/>
                </a:moveTo>
                <a:lnTo>
                  <a:pt x="7347797" y="0"/>
                </a:lnTo>
                <a:lnTo>
                  <a:pt x="7347797" y="344202"/>
                </a:lnTo>
                <a:lnTo>
                  <a:pt x="0" y="344202"/>
                </a:lnTo>
                <a:lnTo>
                  <a:pt x="0" y="0"/>
                </a:lnTo>
                <a:close/>
              </a:path>
            </a:pathLst>
          </a:custGeom>
          <a:blipFill>
            <a:blip r:embed="rId12">
              <a:extLst>
                <a:ext uri="{96DAC541-7B7A-43D3-8B79-37D633B846F1}">
                  <asvg:svgBlip xmlns:asvg="http://schemas.microsoft.com/office/drawing/2016/SVG/main" r:embed="rId13"/>
                </a:ext>
              </a:extLst>
            </a:blip>
            <a:stretch>
              <a:fillRect l="-816" t="0" r="-5586" b="0"/>
            </a:stretch>
          </a:blipFill>
        </p:spPr>
      </p:sp>
      <p:sp>
        <p:nvSpPr>
          <p:cNvPr name="Freeform 12" id="12"/>
          <p:cNvSpPr/>
          <p:nvPr/>
        </p:nvSpPr>
        <p:spPr>
          <a:xfrm flipH="false" flipV="false" rot="0">
            <a:off x="15567652" y="2141100"/>
            <a:ext cx="2980461" cy="839948"/>
          </a:xfrm>
          <a:custGeom>
            <a:avLst/>
            <a:gdLst/>
            <a:ahLst/>
            <a:cxnLst/>
            <a:rect r="r" b="b" t="t" l="l"/>
            <a:pathLst>
              <a:path h="839948" w="2980461">
                <a:moveTo>
                  <a:pt x="0" y="0"/>
                </a:moveTo>
                <a:lnTo>
                  <a:pt x="2980461" y="0"/>
                </a:lnTo>
                <a:lnTo>
                  <a:pt x="2980461" y="839948"/>
                </a:lnTo>
                <a:lnTo>
                  <a:pt x="0" y="839948"/>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028700" y="7257550"/>
            <a:ext cx="554734" cy="1262439"/>
          </a:xfrm>
          <a:custGeom>
            <a:avLst/>
            <a:gdLst/>
            <a:ahLst/>
            <a:cxnLst/>
            <a:rect r="r" b="b" t="t" l="l"/>
            <a:pathLst>
              <a:path h="1262439" w="554734">
                <a:moveTo>
                  <a:pt x="0" y="0"/>
                </a:moveTo>
                <a:lnTo>
                  <a:pt x="554734" y="0"/>
                </a:lnTo>
                <a:lnTo>
                  <a:pt x="554734" y="1262439"/>
                </a:lnTo>
                <a:lnTo>
                  <a:pt x="0" y="1262439"/>
                </a:lnTo>
                <a:lnTo>
                  <a:pt x="0" y="0"/>
                </a:lnTo>
                <a:close/>
              </a:path>
            </a:pathLst>
          </a:custGeom>
          <a:blipFill>
            <a:blip r:embed="rId6">
              <a:extLst>
                <a:ext uri="{96DAC541-7B7A-43D3-8B79-37D633B846F1}">
                  <asvg:svgBlip xmlns:asvg="http://schemas.microsoft.com/office/drawing/2016/SVG/main" r:embed="rId7"/>
                </a:ext>
              </a:extLst>
            </a:blip>
            <a:stretch>
              <a:fillRect l="0" t="0" r="0" b="-3281"/>
            </a:stretch>
          </a:blipFill>
        </p:spPr>
      </p:sp>
      <p:sp>
        <p:nvSpPr>
          <p:cNvPr name="Freeform 14" id="14"/>
          <p:cNvSpPr/>
          <p:nvPr/>
        </p:nvSpPr>
        <p:spPr>
          <a:xfrm flipH="false" flipV="false" rot="0">
            <a:off x="6286238" y="7996849"/>
            <a:ext cx="1178951" cy="282023"/>
          </a:xfrm>
          <a:custGeom>
            <a:avLst/>
            <a:gdLst/>
            <a:ahLst/>
            <a:cxnLst/>
            <a:rect r="r" b="b" t="t" l="l"/>
            <a:pathLst>
              <a:path h="282023" w="1178951">
                <a:moveTo>
                  <a:pt x="0" y="0"/>
                </a:moveTo>
                <a:lnTo>
                  <a:pt x="1178952" y="0"/>
                </a:lnTo>
                <a:lnTo>
                  <a:pt x="1178952" y="282023"/>
                </a:lnTo>
                <a:lnTo>
                  <a:pt x="0" y="282023"/>
                </a:lnTo>
                <a:lnTo>
                  <a:pt x="0" y="0"/>
                </a:lnTo>
                <a:close/>
              </a:path>
            </a:pathLst>
          </a:custGeom>
          <a:blipFill>
            <a:blip r:embed="rId10">
              <a:extLst>
                <a:ext uri="{96DAC541-7B7A-43D3-8B79-37D633B846F1}">
                  <asvg:svgBlip xmlns:asvg="http://schemas.microsoft.com/office/drawing/2016/SVG/main" r:embed="rId11"/>
                </a:ext>
              </a:extLst>
            </a:blip>
            <a:stretch>
              <a:fillRect l="0" t="0" r="0" b="-318033"/>
            </a:stretch>
          </a:blipFill>
        </p:spPr>
      </p:sp>
      <p:sp>
        <p:nvSpPr>
          <p:cNvPr name="Freeform 15" id="15"/>
          <p:cNvSpPr/>
          <p:nvPr/>
        </p:nvSpPr>
        <p:spPr>
          <a:xfrm flipH="false" flipV="false" rot="0">
            <a:off x="8482421" y="5628608"/>
            <a:ext cx="1323159" cy="1323159"/>
          </a:xfrm>
          <a:custGeom>
            <a:avLst/>
            <a:gdLst/>
            <a:ahLst/>
            <a:cxnLst/>
            <a:rect r="r" b="b" t="t" l="l"/>
            <a:pathLst>
              <a:path h="1323159" w="1323159">
                <a:moveTo>
                  <a:pt x="0" y="0"/>
                </a:moveTo>
                <a:lnTo>
                  <a:pt x="1323158" y="0"/>
                </a:lnTo>
                <a:lnTo>
                  <a:pt x="1323158" y="1323159"/>
                </a:lnTo>
                <a:lnTo>
                  <a:pt x="0" y="132315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true" flipV="false" rot="0">
            <a:off x="8728084" y="5902846"/>
            <a:ext cx="774682" cy="774682"/>
          </a:xfrm>
          <a:custGeom>
            <a:avLst/>
            <a:gdLst/>
            <a:ahLst/>
            <a:cxnLst/>
            <a:rect r="r" b="b" t="t" l="l"/>
            <a:pathLst>
              <a:path h="774682" w="774682">
                <a:moveTo>
                  <a:pt x="774682" y="0"/>
                </a:moveTo>
                <a:lnTo>
                  <a:pt x="0" y="0"/>
                </a:lnTo>
                <a:lnTo>
                  <a:pt x="0" y="774683"/>
                </a:lnTo>
                <a:lnTo>
                  <a:pt x="774682" y="774683"/>
                </a:lnTo>
                <a:lnTo>
                  <a:pt x="774682"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1975752" y="3857348"/>
            <a:ext cx="14336496" cy="1219477"/>
          </a:xfrm>
          <a:prstGeom prst="rect">
            <a:avLst/>
          </a:prstGeom>
        </p:spPr>
        <p:txBody>
          <a:bodyPr anchor="t" rtlCol="false" tIns="0" lIns="0" bIns="0" rIns="0">
            <a:spAutoFit/>
          </a:bodyPr>
          <a:lstStyle/>
          <a:p>
            <a:pPr algn="ctr">
              <a:lnSpc>
                <a:spcPts val="8647"/>
              </a:lnSpc>
              <a:spcBef>
                <a:spcPct val="0"/>
              </a:spcBef>
            </a:pPr>
            <a:r>
              <a:rPr lang="en-US" sz="8395" spc="2207">
                <a:solidFill>
                  <a:srgbClr val="535454"/>
                </a:solidFill>
                <a:latin typeface="Arcade Gamer"/>
                <a:ea typeface="Arcade Gamer"/>
                <a:cs typeface="Arcade Gamer"/>
                <a:sym typeface="Arcade Gamer"/>
              </a:rPr>
              <a:t>GAME OVER</a:t>
            </a:r>
          </a:p>
        </p:txBody>
      </p:sp>
      <p:sp>
        <p:nvSpPr>
          <p:cNvPr name="Freeform 18" id="18"/>
          <p:cNvSpPr/>
          <p:nvPr/>
        </p:nvSpPr>
        <p:spPr>
          <a:xfrm flipH="false" flipV="false" rot="0">
            <a:off x="16498542" y="6839230"/>
            <a:ext cx="738550" cy="1680759"/>
          </a:xfrm>
          <a:custGeom>
            <a:avLst/>
            <a:gdLst/>
            <a:ahLst/>
            <a:cxnLst/>
            <a:rect r="r" b="b" t="t" l="l"/>
            <a:pathLst>
              <a:path h="1680759" w="738550">
                <a:moveTo>
                  <a:pt x="0" y="0"/>
                </a:moveTo>
                <a:lnTo>
                  <a:pt x="738550" y="0"/>
                </a:lnTo>
                <a:lnTo>
                  <a:pt x="738550" y="1680759"/>
                </a:lnTo>
                <a:lnTo>
                  <a:pt x="0" y="1680759"/>
                </a:lnTo>
                <a:lnTo>
                  <a:pt x="0" y="0"/>
                </a:lnTo>
                <a:close/>
              </a:path>
            </a:pathLst>
          </a:custGeom>
          <a:blipFill>
            <a:blip r:embed="rId6">
              <a:extLst>
                <a:ext uri="{96DAC541-7B7A-43D3-8B79-37D633B846F1}">
                  <asvg:svgBlip xmlns:asvg="http://schemas.microsoft.com/office/drawing/2016/SVG/main" r:embed="rId7"/>
                </a:ext>
              </a:extLst>
            </a:blip>
            <a:stretch>
              <a:fillRect l="0" t="0" r="0" b="-3281"/>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DAG9oQBx1bI</dc:identifier>
  <dcterms:modified xsi:type="dcterms:W3CDTF">2011-08-01T06:04:30Z</dcterms:modified>
  <cp:revision>1</cp:revision>
  <dc:title>White Gray Modern Pixel Dino Trivia Game Night Presentation</dc:title>
</cp:coreProperties>
</file>